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0058400" cy="7772400"/>
  <p:notesSz cx="10058400" cy="7772400"/>
  <p:defaultTextStyle>
    <a:defPPr lvl="0">
      <a:defRPr kern="0"/>
    </a:defPPr>
    <a:lvl1pPr lvl="0">
      <a:defRPr/>
    </a:lvl1pPr>
    <a:lvl2pPr lvl="1">
      <a:defRPr/>
    </a:lvl2pPr>
    <a:lvl3pPr lvl="2">
      <a:defRPr/>
    </a:lvl3pPr>
    <a:lvl4pPr lvl="3">
      <a:defRPr/>
    </a:lvl4pPr>
    <a:lvl5pPr lvl="4">
      <a:defRPr/>
    </a:lvl5pPr>
    <a:lvl6pPr lvl="5">
      <a:defRPr/>
    </a:lvl6pPr>
    <a:lvl7pPr lvl="6">
      <a:defRPr/>
    </a:lvl7pPr>
    <a:lvl8pPr lvl="7">
      <a:defRPr/>
    </a:lvl8pPr>
    <a:lvl9pPr lvl="8">
      <a:defRPr/>
    </a:lvl9pPr>
  </p:defaultTextStyle>
  <p:extLst>
    <p:ext uri="{EFAFB233-063F-42B5-8137-9DF3F51BA10A}">
      <p15:sldGuideLst xmlns:p15="http://schemas.microsoft.com/office/powerpoint/2012/main">
        <p15:guide id="1" orient="horz" pos="2878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9" d="100"/>
          <a:sy n="69" d="100"/>
        </p:scale>
        <p:origin x="1661" y="67"/>
      </p:cViewPr>
      <p:guideLst>
        <p:guide orient="horz" pos="2878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10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11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1076308"/>
            <a:ext cx="7467599" cy="1073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90"/>
              </a:spcBef>
            </a:pPr>
            <a:r>
              <a:rPr lang="en-US" alt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Systems (DBMS)</a:t>
            </a:r>
            <a:b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Review</a:t>
            </a:r>
            <a:endParaRPr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53494" y="2514600"/>
            <a:ext cx="8751412" cy="44380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US" altLang="en-GB" sz="2400" dirty="0"/>
              <a:t>Hospital Management System</a:t>
            </a: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2200" spc="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IN" sz="22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sz="9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US" alt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B.BHARGAVI (25B11AI166)</a:t>
            </a:r>
            <a:endParaRPr lang="en-IN" sz="2000" spc="-10" dirty="0">
              <a:solidFill>
                <a:srgbClr val="17375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r>
              <a:rPr lang="en-US" alt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P.VAISHNAVI</a:t>
            </a: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25B11AIC35</a:t>
            </a: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r>
              <a:rPr lang="en-US" alt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K.RAMA DEVI(25B11AI615)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r>
              <a:rPr lang="en-US" alt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A.BALA SRI TRIPURA SUNDARI(25B11AI020)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r>
              <a:rPr lang="en-US" altLang="en-IN" sz="2000" spc="-1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 :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r>
              <a:rPr lang="en-US" altLang="en-IN" sz="20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Mrs. G.L. NARASAMBA VANGURI Mam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endParaRPr lang="en-IN" sz="165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5"/>
              </a:spcBef>
            </a:pPr>
            <a:r>
              <a:rPr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2200" spc="-6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IN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&amp; Machine Learning</a:t>
            </a:r>
            <a:endParaRPr lang="en-IN" sz="220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5"/>
              </a:spcBef>
            </a:pPr>
            <a:endParaRPr lang="en-IN" sz="165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57935" y="1497965"/>
            <a:ext cx="5158105" cy="54540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 panose="02040503050406030204"/>
              <a:buAutoNum type="arabicPeriod"/>
              <a:tabLst>
                <a:tab pos="389890" algn="l"/>
              </a:tabLst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US" alt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US" alt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No.of Entities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US" altLang="en-IN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 </a:t>
            </a:r>
            <a:endParaRPr lang="en-IN" sz="2400" spc="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US" altLang="en-IN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Keys And Foreign Keys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US" altLang="en-IN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US" altLang="en-IN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constraints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US" altLang="en-IN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/>
          <p:cNvSpPr txBox="1"/>
          <p:nvPr/>
        </p:nvSpPr>
        <p:spPr>
          <a:xfrm>
            <a:off x="3604543" y="286092"/>
            <a:ext cx="2853690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67000" y="53695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343400" y="325191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10" name="object 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2000" y="1066520"/>
            <a:ext cx="895350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alt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11505" y="1006475"/>
            <a:ext cx="9103995" cy="639318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spcAft>
                <a:spcPct val="60000"/>
              </a:spcAft>
            </a:pPr>
            <a:r>
              <a:rPr lang="en-US" altLang="zh-CN" sz="3200" b="1"/>
              <a:t>Abstract:</a:t>
            </a:r>
          </a:p>
          <a:p>
            <a:r>
              <a:rPr lang="en-US" altLang="zh-CN" sz="2800"/>
              <a:t>. </a:t>
            </a:r>
            <a:r>
              <a:rPr lang="en-US" altLang="en-GB" sz="2800"/>
              <a:t>Database-based application for managing hospital activities.</a:t>
            </a:r>
          </a:p>
          <a:p>
            <a:endParaRPr lang="en-US" altLang="en-GB" sz="2800"/>
          </a:p>
          <a:p>
            <a:r>
              <a:rPr lang="en-US" altLang="en-GB" sz="2800"/>
              <a:t>1. Manages hospital activities.</a:t>
            </a:r>
          </a:p>
          <a:p>
            <a:r>
              <a:rPr lang="en-US" altLang="en-GB" sz="2800"/>
              <a:t>2. Stores patient and doctor details.</a:t>
            </a:r>
          </a:p>
          <a:p>
            <a:r>
              <a:rPr lang="en-US" altLang="en-GB" sz="2800"/>
              <a:t>3. Manages appointments and admissions.</a:t>
            </a:r>
          </a:p>
          <a:p>
            <a:r>
              <a:rPr lang="en-US" altLang="en-GB" sz="2800"/>
              <a:t>4. Maintains treatment and medicine records.</a:t>
            </a:r>
          </a:p>
          <a:p>
            <a:r>
              <a:rPr lang="en-US" altLang="en-GB" sz="2800"/>
              <a:t>5. Handles billing and payments.</a:t>
            </a:r>
          </a:p>
          <a:p>
            <a:r>
              <a:rPr lang="en-US" altLang="en-GB" sz="2800"/>
              <a:t>6. Reduces paperwork and data duplication.</a:t>
            </a:r>
          </a:p>
          <a:p>
            <a:r>
              <a:rPr lang="en-US" altLang="en-GB" sz="2800"/>
              <a:t>7. Provides quick and accurate information.</a:t>
            </a:r>
          </a:p>
          <a:p>
            <a:r>
              <a:rPr lang="en-US" altLang="en-GB" sz="2800"/>
              <a:t>8. Maintains relationships between hospital records.</a:t>
            </a:r>
          </a:p>
          <a:p>
            <a:endParaRPr lang="en-US" altLang="en-GB"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/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405505" y="344805"/>
            <a:ext cx="5578475" cy="391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17" name="object 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35025" y="1388110"/>
            <a:ext cx="8610600" cy="57569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 Manual hospital records are difficult to manage.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Manual systems can cause “errors and data duplication”.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Records may be “lost or difficult to retrieve”.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 A centralized database stores all hospital information.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 The system efficiently manages “patients, doctors, appointments, treatments, admissions, and billing”.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8435" y="36830"/>
            <a:ext cx="5104130" cy="1198245"/>
          </a:xfrm>
          <a:prstGeom prst="rect">
            <a:avLst/>
          </a:prstGeom>
        </p:spPr>
      </p:pic>
      <p:pic>
        <p:nvPicPr>
          <p:cNvPr id="6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73680" y="76200"/>
            <a:ext cx="4997450" cy="1092200"/>
          </a:xfrm>
          <a:prstGeom prst="rect">
            <a:avLst/>
          </a:prstGeom>
        </p:spPr>
      </p:pic>
      <p:pic>
        <p:nvPicPr>
          <p:cNvPr id="7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99410" y="233045"/>
            <a:ext cx="4585335" cy="522605"/>
          </a:xfrm>
          <a:prstGeom prst="rect">
            <a:avLst/>
          </a:prstGeom>
        </p:spPr>
      </p:pic>
      <p:sp>
        <p:nvSpPr>
          <p:cNvPr id="8" name="object 7"/>
          <p:cNvSpPr/>
          <p:nvPr/>
        </p:nvSpPr>
        <p:spPr>
          <a:xfrm>
            <a:off x="2954020" y="272415"/>
            <a:ext cx="4479290" cy="416560"/>
          </a:xfrm>
          <a:custGeom>
            <a:avLst/>
            <a:gdLst/>
            <a:ahLst/>
            <a:cxnLst/>
            <a:rect l="l" t="t" r="r" b="b"/>
            <a:pathLst>
              <a:path w="4479290" h="416559">
                <a:moveTo>
                  <a:pt x="4394158" y="0"/>
                </a:moveTo>
                <a:lnTo>
                  <a:pt x="84972" y="0"/>
                </a:lnTo>
                <a:lnTo>
                  <a:pt x="51863" y="5448"/>
                </a:lnTo>
                <a:lnTo>
                  <a:pt x="24831" y="20326"/>
                </a:lnTo>
                <a:lnTo>
                  <a:pt x="6705" y="42329"/>
                </a:lnTo>
                <a:lnTo>
                  <a:pt x="0" y="69361"/>
                </a:lnTo>
                <a:lnTo>
                  <a:pt x="0" y="346910"/>
                </a:lnTo>
                <a:lnTo>
                  <a:pt x="6705" y="373941"/>
                </a:lnTo>
                <a:lnTo>
                  <a:pt x="24831" y="395944"/>
                </a:lnTo>
                <a:lnTo>
                  <a:pt x="51863" y="410822"/>
                </a:lnTo>
                <a:lnTo>
                  <a:pt x="84972" y="416271"/>
                </a:lnTo>
                <a:lnTo>
                  <a:pt x="4394158" y="416271"/>
                </a:lnTo>
                <a:lnTo>
                  <a:pt x="4427267" y="410822"/>
                </a:lnTo>
                <a:lnTo>
                  <a:pt x="4454299" y="395944"/>
                </a:lnTo>
                <a:lnTo>
                  <a:pt x="4472425" y="373941"/>
                </a:lnTo>
                <a:lnTo>
                  <a:pt x="4479131" y="346910"/>
                </a:lnTo>
                <a:lnTo>
                  <a:pt x="4479131" y="69361"/>
                </a:lnTo>
                <a:lnTo>
                  <a:pt x="4472425" y="42329"/>
                </a:lnTo>
                <a:lnTo>
                  <a:pt x="4454299" y="20326"/>
                </a:lnTo>
                <a:lnTo>
                  <a:pt x="4427267" y="5448"/>
                </a:lnTo>
                <a:lnTo>
                  <a:pt x="4394158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4053840" y="321310"/>
            <a:ext cx="2942590" cy="391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8975" y="929005"/>
            <a:ext cx="8453120" cy="65589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Bef>
                <a:spcPts val="1200"/>
              </a:spcBef>
            </a:pP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  <a:endParaRPr lang="en-US" alt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</a:pP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objectives of the Hospital Management System are:</a:t>
            </a:r>
          </a:p>
          <a:p>
            <a:pPr>
              <a:spcBef>
                <a:spcPts val="1200"/>
              </a:spcBef>
            </a:pPr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patient information efficiently.</a:t>
            </a:r>
          </a:p>
          <a:p>
            <a:pPr>
              <a:spcBef>
                <a:spcPts val="1200"/>
              </a:spcBef>
            </a:pPr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store and manage doctor details.</a:t>
            </a:r>
          </a:p>
          <a:p>
            <a:pPr>
              <a:spcBef>
                <a:spcPts val="1200"/>
              </a:spcBef>
            </a:pPr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manage hospital departments.</a:t>
            </a:r>
          </a:p>
          <a:p>
            <a:pPr>
              <a:spcBef>
                <a:spcPts val="1200"/>
              </a:spcBef>
            </a:pPr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schedule and track patient appointments.</a:t>
            </a:r>
          </a:p>
          <a:p>
            <a:pPr>
              <a:spcBef>
                <a:spcPts val="1200"/>
              </a:spcBef>
            </a:pPr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maintain admission and discharge details.</a:t>
            </a:r>
          </a:p>
          <a:p>
            <a:pPr>
              <a:spcBef>
                <a:spcPts val="1200"/>
              </a:spcBef>
            </a:pPr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record patient diagnosis and treatment information.</a:t>
            </a:r>
          </a:p>
          <a:p>
            <a:pPr>
              <a:spcBef>
                <a:spcPts val="1200"/>
              </a:spcBef>
            </a:pPr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manage medicines and prescriptions.</a:t>
            </a:r>
          </a:p>
          <a:p>
            <a:pPr>
              <a:spcBef>
                <a:spcPts val="1200"/>
              </a:spcBef>
            </a:pPr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and maintain patient bills.</a:t>
            </a:r>
          </a:p>
          <a:p>
            <a:pPr>
              <a:spcBef>
                <a:spcPts val="1200"/>
              </a:spcBef>
            </a:pPr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reduce paperwork and manual errors.</a:t>
            </a:r>
          </a:p>
          <a:p>
            <a:pPr>
              <a:spcBef>
                <a:spcPts val="1200"/>
              </a:spcBef>
            </a:pPr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quick and easy access to hospital records.</a:t>
            </a:r>
          </a:p>
        </p:txBody>
      </p:sp>
      <p:pic>
        <p:nvPicPr>
          <p:cNvPr id="17" name="object 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143000"/>
            <a:ext cx="8534400" cy="5867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Entities: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our proposed system, we can use 8 entities: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8" name="object 7"/>
          <p:cNvSpPr/>
          <p:nvPr/>
        </p:nvSpPr>
        <p:spPr>
          <a:xfrm>
            <a:off x="2689225" y="533400"/>
            <a:ext cx="4744085" cy="416560"/>
          </a:xfrm>
          <a:custGeom>
            <a:avLst/>
            <a:gdLst/>
            <a:ahLst/>
            <a:cxnLst/>
            <a:rect l="l" t="t" r="r" b="b"/>
            <a:pathLst>
              <a:path w="4479290" h="416559">
                <a:moveTo>
                  <a:pt x="4394158" y="0"/>
                </a:moveTo>
                <a:lnTo>
                  <a:pt x="84972" y="0"/>
                </a:lnTo>
                <a:lnTo>
                  <a:pt x="51863" y="5448"/>
                </a:lnTo>
                <a:lnTo>
                  <a:pt x="24831" y="20326"/>
                </a:lnTo>
                <a:lnTo>
                  <a:pt x="6705" y="42329"/>
                </a:lnTo>
                <a:lnTo>
                  <a:pt x="0" y="69361"/>
                </a:lnTo>
                <a:lnTo>
                  <a:pt x="0" y="346910"/>
                </a:lnTo>
                <a:lnTo>
                  <a:pt x="6705" y="373941"/>
                </a:lnTo>
                <a:lnTo>
                  <a:pt x="24831" y="395944"/>
                </a:lnTo>
                <a:lnTo>
                  <a:pt x="51863" y="410822"/>
                </a:lnTo>
                <a:lnTo>
                  <a:pt x="84972" y="416271"/>
                </a:lnTo>
                <a:lnTo>
                  <a:pt x="4394158" y="416271"/>
                </a:lnTo>
                <a:lnTo>
                  <a:pt x="4427267" y="410822"/>
                </a:lnTo>
                <a:lnTo>
                  <a:pt x="4454299" y="395944"/>
                </a:lnTo>
                <a:lnTo>
                  <a:pt x="4472425" y="373941"/>
                </a:lnTo>
                <a:lnTo>
                  <a:pt x="4479131" y="346910"/>
                </a:lnTo>
                <a:lnTo>
                  <a:pt x="4479131" y="69361"/>
                </a:lnTo>
                <a:lnTo>
                  <a:pt x="4472425" y="42329"/>
                </a:lnTo>
                <a:lnTo>
                  <a:pt x="4454299" y="20326"/>
                </a:lnTo>
                <a:lnTo>
                  <a:pt x="4427267" y="5448"/>
                </a:lnTo>
                <a:lnTo>
                  <a:pt x="4394158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r>
              <a:rPr lang="en-US" altLang="en-US" dirty="0"/>
              <a:t>                     </a:t>
            </a:r>
            <a:r>
              <a:rPr lang="en-US" altLang="en-US" sz="2000" b="1" dirty="0">
                <a:solidFill>
                  <a:schemeClr val="bg1"/>
                </a:solidFill>
              </a:rPr>
              <a:t> NO.OF ENTITES</a:t>
            </a:r>
            <a:r>
              <a:rPr lang="en-US" altLang="en-US" b="1" dirty="0">
                <a:solidFill>
                  <a:schemeClr val="bg1"/>
                </a:solidFill>
              </a:rPr>
              <a:t> </a:t>
            </a:r>
            <a:r>
              <a:rPr lang="en-US" altLang="en-US" dirty="0">
                <a:solidFill>
                  <a:schemeClr val="bg1"/>
                </a:solidFill>
              </a:rPr>
              <a:t> </a:t>
            </a:r>
            <a:r>
              <a:rPr lang="en-US" altLang="en-US" dirty="0"/>
              <a:t>                  </a:t>
            </a:r>
          </a:p>
        </p:txBody>
      </p:sp>
      <p:graphicFrame>
        <p:nvGraphicFramePr>
          <p:cNvPr id="2" name="Table 1"/>
          <p:cNvGraphicFramePr/>
          <p:nvPr>
            <p:custDataLst>
              <p:tags r:id="rId1"/>
            </p:custDataLst>
          </p:nvPr>
        </p:nvGraphicFramePr>
        <p:xfrm>
          <a:off x="781050" y="2508885"/>
          <a:ext cx="8326120" cy="4503420"/>
        </p:xfrm>
        <a:graphic>
          <a:graphicData uri="http://schemas.openxmlformats.org/drawingml/2006/table">
            <a:tbl>
              <a:tblPr/>
              <a:tblGrid>
                <a:gridCol w="4163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3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0380">
                <a:tc>
                  <a:txBody>
                    <a:bodyPr/>
                    <a:lstStyle/>
                    <a:p>
                      <a:r>
                        <a:rPr lang="en-US" altLang="zh-CN" sz="2000" b="1"/>
                        <a:t>No.                                  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/>
                        <a:t>Entity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380">
                <a:tc>
                  <a:txBody>
                    <a:bodyPr/>
                    <a:lstStyle/>
                    <a:p>
                      <a:r>
                        <a:rPr lang="en-US" altLang="zh-CN" sz="1800" b="1"/>
                        <a:t>1.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GB" sz="2000"/>
                        <a:t>Patient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380">
                <a:tc>
                  <a:txBody>
                    <a:bodyPr/>
                    <a:lstStyle/>
                    <a:p>
                      <a:r>
                        <a:rPr lang="en-US" altLang="zh-CN" sz="1800" b="1"/>
                        <a:t>2.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/>
                        <a:t>Doctor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380">
                <a:tc>
                  <a:txBody>
                    <a:bodyPr/>
                    <a:lstStyle/>
                    <a:p>
                      <a:r>
                        <a:rPr lang="en-US" altLang="zh-CN" sz="1800" b="1"/>
                        <a:t>3.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/>
                        <a:t>Department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380">
                <a:tc>
                  <a:txBody>
                    <a:bodyPr/>
                    <a:lstStyle/>
                    <a:p>
                      <a:r>
                        <a:rPr lang="en-US" altLang="zh-CN" sz="1800" b="1"/>
                        <a:t>4.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GB" sz="2000"/>
                        <a:t>Appointment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380">
                <a:tc>
                  <a:txBody>
                    <a:bodyPr/>
                    <a:lstStyle/>
                    <a:p>
                      <a:r>
                        <a:rPr lang="en-US" altLang="zh-CN" sz="1800" b="1"/>
                        <a:t>5.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GB" sz="2000"/>
                        <a:t>Admission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380">
                <a:tc>
                  <a:txBody>
                    <a:bodyPr/>
                    <a:lstStyle/>
                    <a:p>
                      <a:r>
                        <a:rPr lang="en-US" altLang="zh-CN" sz="1800" b="1"/>
                        <a:t>6.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GB" sz="2000"/>
                        <a:t>Treatment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0380">
                <a:tc>
                  <a:txBody>
                    <a:bodyPr/>
                    <a:lstStyle/>
                    <a:p>
                      <a:r>
                        <a:rPr lang="en-US" altLang="zh-CN" sz="1800" b="1"/>
                        <a:t>7.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GB" sz="2000"/>
                        <a:t>Medicine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0380">
                <a:tc>
                  <a:txBody>
                    <a:bodyPr/>
                    <a:lstStyle/>
                    <a:p>
                      <a:r>
                        <a:rPr lang="en-US" altLang="en-GB" sz="1800" b="1"/>
                        <a:t>8.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GB" sz="2000"/>
                        <a:t>Bill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685800"/>
            <a:ext cx="9149715" cy="6880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Attributes:</a:t>
            </a:r>
          </a:p>
          <a:p>
            <a:pPr>
              <a:lnSpc>
                <a:spcPct val="150000"/>
              </a:lnSpc>
            </a:pPr>
            <a:endParaRPr lang="en-US" alt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8" name="object 7"/>
          <p:cNvSpPr/>
          <p:nvPr/>
        </p:nvSpPr>
        <p:spPr>
          <a:xfrm>
            <a:off x="2514600" y="297180"/>
            <a:ext cx="4479290" cy="416560"/>
          </a:xfrm>
          <a:custGeom>
            <a:avLst/>
            <a:gdLst/>
            <a:ahLst/>
            <a:cxnLst/>
            <a:rect l="l" t="t" r="r" b="b"/>
            <a:pathLst>
              <a:path w="4479290" h="416559">
                <a:moveTo>
                  <a:pt x="4394158" y="0"/>
                </a:moveTo>
                <a:lnTo>
                  <a:pt x="84972" y="0"/>
                </a:lnTo>
                <a:lnTo>
                  <a:pt x="51863" y="5448"/>
                </a:lnTo>
                <a:lnTo>
                  <a:pt x="24831" y="20326"/>
                </a:lnTo>
                <a:lnTo>
                  <a:pt x="6705" y="42329"/>
                </a:lnTo>
                <a:lnTo>
                  <a:pt x="0" y="69361"/>
                </a:lnTo>
                <a:lnTo>
                  <a:pt x="0" y="346910"/>
                </a:lnTo>
                <a:lnTo>
                  <a:pt x="6705" y="373941"/>
                </a:lnTo>
                <a:lnTo>
                  <a:pt x="24831" y="395944"/>
                </a:lnTo>
                <a:lnTo>
                  <a:pt x="51863" y="410822"/>
                </a:lnTo>
                <a:lnTo>
                  <a:pt x="84972" y="416271"/>
                </a:lnTo>
                <a:lnTo>
                  <a:pt x="4394158" y="416271"/>
                </a:lnTo>
                <a:lnTo>
                  <a:pt x="4427267" y="410822"/>
                </a:lnTo>
                <a:lnTo>
                  <a:pt x="4454299" y="395944"/>
                </a:lnTo>
                <a:lnTo>
                  <a:pt x="4472425" y="373941"/>
                </a:lnTo>
                <a:lnTo>
                  <a:pt x="4479131" y="346910"/>
                </a:lnTo>
                <a:lnTo>
                  <a:pt x="4479131" y="69361"/>
                </a:lnTo>
                <a:lnTo>
                  <a:pt x="4472425" y="42329"/>
                </a:lnTo>
                <a:lnTo>
                  <a:pt x="4454299" y="20326"/>
                </a:lnTo>
                <a:lnTo>
                  <a:pt x="4427267" y="5448"/>
                </a:lnTo>
                <a:lnTo>
                  <a:pt x="4394158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r>
              <a:rPr lang="en-US" altLang="en-US" dirty="0"/>
              <a:t>                       </a:t>
            </a:r>
            <a:r>
              <a:rPr lang="en-US" altLang="en-US" sz="2400" b="1" dirty="0">
                <a:solidFill>
                  <a:schemeClr val="bg1"/>
                </a:solidFill>
              </a:rPr>
              <a:t>ATTRIBUTES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704215" y="1659890"/>
          <a:ext cx="8649970" cy="5294630"/>
        </p:xfrm>
        <a:graphic>
          <a:graphicData uri="http://schemas.openxmlformats.org/drawingml/2006/table">
            <a:tbl>
              <a:tblPr/>
              <a:tblGrid>
                <a:gridCol w="4324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4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1325">
                <a:tc>
                  <a:txBody>
                    <a:bodyPr/>
                    <a:lstStyle/>
                    <a:p>
                      <a:r>
                        <a:rPr lang="en-US" altLang="zh-CN" sz="2400" b="1"/>
                        <a:t>Entity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/>
                        <a:t>Attributes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690">
                <a:tc>
                  <a:txBody>
                    <a:bodyPr/>
                    <a:lstStyle/>
                    <a:p>
                      <a:r>
                        <a:rPr lang="en-US" altLang="zh-CN" sz="2000"/>
                        <a:t>Patient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Patient_ID, Name, Age, Gender, Phone, Address, Blood_Group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rPr lang="en-US" altLang="zh-CN" sz="2000"/>
                        <a:t>Doctor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Doctor_ID, Name, Specialization, Phone, Email, Department_ID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r>
                        <a:rPr lang="en-US" altLang="zh-CN" sz="2000"/>
                        <a:t>Department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Department_ID, Department_Name, Location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2015">
                <a:tc>
                  <a:txBody>
                    <a:bodyPr/>
                    <a:lstStyle/>
                    <a:p>
                      <a:r>
                        <a:rPr lang="en-US" altLang="zh-CN" sz="2000"/>
                        <a:t>Appointment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Appointment_ID, Patient_ID, Doctor_ID, Appointment_Date, Appointment_Time, Status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r>
                        <a:rPr lang="en-US" altLang="zh-CN" sz="2000"/>
                        <a:t>Admission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A</a:t>
                      </a:r>
                      <a:r>
                        <a:rPr lang="en-US" altLang="zh-CN" sz="1600"/>
                        <a:t>dmission_ID, Patient_ID, Room_No, Admission_Date, Discharge_Date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82650">
                <a:tc>
                  <a:txBody>
                    <a:bodyPr/>
                    <a:lstStyle/>
                    <a:p>
                      <a:r>
                        <a:rPr lang="en-US" altLang="zh-CN" sz="2000"/>
                        <a:t>Treatment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Treatment_ID, Patient_ID, Doctor_ID, Diagnosis, Treatment_Date, Description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r>
                        <a:rPr lang="en-US" altLang="zh-CN" sz="2000"/>
                        <a:t>Medicine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Medicine_ID, Medicine_Name, Quantity, Price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82015">
                <a:tc>
                  <a:txBody>
                    <a:bodyPr/>
                    <a:lstStyle/>
                    <a:p>
                      <a:r>
                        <a:rPr lang="en-US" altLang="zh-CN" sz="2000"/>
                        <a:t>Bill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Bill_ID, Patient_ID, Bill_Date, Treatment_Charge, Medicine_Charge, Total_Amount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pic>
        <p:nvPicPr>
          <p:cNvPr id="17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2019935" y="2785745"/>
            <a:ext cx="4098290" cy="90424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spcAft>
                <a:spcPct val="60000"/>
              </a:spcAft>
            </a:pPr>
            <a:endParaRPr lang="en-US" altLang="zh-CN" sz="1600" b="1"/>
          </a:p>
        </p:txBody>
      </p:sp>
      <p:sp>
        <p:nvSpPr>
          <p:cNvPr id="8" name="object 7"/>
          <p:cNvSpPr/>
          <p:nvPr/>
        </p:nvSpPr>
        <p:spPr>
          <a:xfrm>
            <a:off x="1713865" y="272415"/>
            <a:ext cx="6860540" cy="416560"/>
          </a:xfrm>
          <a:custGeom>
            <a:avLst/>
            <a:gdLst/>
            <a:ahLst/>
            <a:cxnLst/>
            <a:rect l="l" t="t" r="r" b="b"/>
            <a:pathLst>
              <a:path w="4479290" h="416559">
                <a:moveTo>
                  <a:pt x="4394158" y="0"/>
                </a:moveTo>
                <a:lnTo>
                  <a:pt x="84972" y="0"/>
                </a:lnTo>
                <a:lnTo>
                  <a:pt x="51863" y="5448"/>
                </a:lnTo>
                <a:lnTo>
                  <a:pt x="24831" y="20326"/>
                </a:lnTo>
                <a:lnTo>
                  <a:pt x="6705" y="42329"/>
                </a:lnTo>
                <a:lnTo>
                  <a:pt x="0" y="69361"/>
                </a:lnTo>
                <a:lnTo>
                  <a:pt x="0" y="346910"/>
                </a:lnTo>
                <a:lnTo>
                  <a:pt x="6705" y="373941"/>
                </a:lnTo>
                <a:lnTo>
                  <a:pt x="24831" y="395944"/>
                </a:lnTo>
                <a:lnTo>
                  <a:pt x="51863" y="410822"/>
                </a:lnTo>
                <a:lnTo>
                  <a:pt x="84972" y="416271"/>
                </a:lnTo>
                <a:lnTo>
                  <a:pt x="4394158" y="416271"/>
                </a:lnTo>
                <a:lnTo>
                  <a:pt x="4427267" y="410822"/>
                </a:lnTo>
                <a:lnTo>
                  <a:pt x="4454299" y="395944"/>
                </a:lnTo>
                <a:lnTo>
                  <a:pt x="4472425" y="373941"/>
                </a:lnTo>
                <a:lnTo>
                  <a:pt x="4479131" y="346910"/>
                </a:lnTo>
                <a:lnTo>
                  <a:pt x="4479131" y="69361"/>
                </a:lnTo>
                <a:lnTo>
                  <a:pt x="4472425" y="42329"/>
                </a:lnTo>
                <a:lnTo>
                  <a:pt x="4454299" y="20326"/>
                </a:lnTo>
                <a:lnTo>
                  <a:pt x="4427267" y="5448"/>
                </a:lnTo>
                <a:lnTo>
                  <a:pt x="4394158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r>
              <a:rPr lang="en-US" altLang="en-US" sz="2400" b="1" dirty="0"/>
              <a:t>        </a:t>
            </a:r>
            <a:r>
              <a:rPr lang="en-US" altLang="en-US" sz="2400" b="1" dirty="0">
                <a:solidFill>
                  <a:schemeClr val="bg1"/>
                </a:solidFill>
              </a:rPr>
              <a:t>PRIMARY KEYS &amp;  FOREIGN KEYS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609600" y="1142683"/>
            <a:ext cx="5080000" cy="39878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000" b="1"/>
              <a:t>Primary Keys and Foreign Keys:</a:t>
            </a:r>
          </a:p>
        </p:txBody>
      </p:sp>
      <p:graphicFrame>
        <p:nvGraphicFramePr>
          <p:cNvPr id="6" name="Table 5"/>
          <p:cNvGraphicFramePr/>
          <p:nvPr>
            <p:custDataLst>
              <p:tags r:id="rId1"/>
            </p:custDataLst>
          </p:nvPr>
        </p:nvGraphicFramePr>
        <p:xfrm>
          <a:off x="704850" y="1994535"/>
          <a:ext cx="8648700" cy="5234940"/>
        </p:xfrm>
        <a:graphic>
          <a:graphicData uri="http://schemas.openxmlformats.org/drawingml/2006/table">
            <a:tbl>
              <a:tblPr/>
              <a:tblGrid>
                <a:gridCol w="288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2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1660">
                <a:tc>
                  <a:txBody>
                    <a:bodyPr/>
                    <a:lstStyle/>
                    <a:p>
                      <a:r>
                        <a:rPr lang="en-US" altLang="zh-CN" sz="2000" b="1"/>
                        <a:t>Entity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/>
                        <a:t>Primary Key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/>
                        <a:t>Foreign Key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660">
                <a:tc>
                  <a:txBody>
                    <a:bodyPr/>
                    <a:lstStyle/>
                    <a:p>
                      <a:r>
                        <a:rPr lang="en-US" altLang="zh-CN" sz="2000"/>
                        <a:t>Patient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Patient_ID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660">
                <a:tc>
                  <a:txBody>
                    <a:bodyPr/>
                    <a:lstStyle/>
                    <a:p>
                      <a:r>
                        <a:rPr lang="en-US" altLang="zh-CN" sz="2000"/>
                        <a:t>Doctor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Doctor_ID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Department_ID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660">
                <a:tc>
                  <a:txBody>
                    <a:bodyPr/>
                    <a:lstStyle/>
                    <a:p>
                      <a:r>
                        <a:rPr lang="en-US" altLang="zh-CN" sz="2000"/>
                        <a:t>Department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Department_ID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660">
                <a:tc>
                  <a:txBody>
                    <a:bodyPr/>
                    <a:lstStyle/>
                    <a:p>
                      <a:r>
                        <a:rPr lang="en-US" altLang="zh-CN" sz="2000"/>
                        <a:t>Appointment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Appointment_ID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Patient_ID, Doctor_ID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660">
                <a:tc>
                  <a:txBody>
                    <a:bodyPr/>
                    <a:lstStyle/>
                    <a:p>
                      <a:r>
                        <a:rPr lang="en-US" altLang="zh-CN" sz="2000"/>
                        <a:t>Admission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Admission_ID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Patient_ID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1660">
                <a:tc>
                  <a:txBody>
                    <a:bodyPr/>
                    <a:lstStyle/>
                    <a:p>
                      <a:r>
                        <a:rPr lang="en-US" altLang="zh-CN" sz="2000"/>
                        <a:t>Treatment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Treatment_ID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Patient_ID, Doctor_ID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1660">
                <a:tc>
                  <a:txBody>
                    <a:bodyPr/>
                    <a:lstStyle/>
                    <a:p>
                      <a:r>
                        <a:rPr lang="en-US" altLang="zh-CN" sz="2000"/>
                        <a:t>Medicine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Medicine_ID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1660">
                <a:tc>
                  <a:txBody>
                    <a:bodyPr/>
                    <a:lstStyle/>
                    <a:p>
                      <a:r>
                        <a:rPr lang="en-US" altLang="zh-CN" sz="2000"/>
                        <a:t>Bill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Bill_ID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Patient_ID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/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038600" y="332823"/>
            <a:ext cx="5029200" cy="391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 DIAGRAM</a:t>
            </a:r>
          </a:p>
        </p:txBody>
      </p:sp>
      <p:pic>
        <p:nvPicPr>
          <p:cNvPr id="17" name="object 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54D82E-6B3D-BC83-D6F5-507539ABD7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268" y="986883"/>
            <a:ext cx="9891132" cy="62521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8200" y="990600"/>
            <a:ext cx="7924800" cy="67824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important key constraints in the Hospital Management System are:</a:t>
            </a:r>
          </a:p>
          <a:p>
            <a:pPr algn="just">
              <a:lnSpc>
                <a:spcPct val="150000"/>
              </a:lnSpc>
            </a:pPr>
            <a:endParaRPr lang="en-US" alt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Primary Key Constraint</a:t>
            </a:r>
          </a:p>
          <a:p>
            <a:pPr algn="just">
              <a:lnSpc>
                <a:spcPct val="150000"/>
              </a:lnSpc>
            </a:pPr>
            <a:r>
              <a:rPr lang="en-US" altLang="en-GB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table must have a unique primary key.</a:t>
            </a:r>
          </a:p>
          <a:p>
            <a:pPr algn="just">
              <a:lnSpc>
                <a:spcPct val="150000"/>
              </a:lnSpc>
            </a:pPr>
            <a:r>
              <a:rPr lang="en-US" altLang="en-GB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 values cannot be NULL.</a:t>
            </a:r>
          </a:p>
          <a:p>
            <a:pPr algn="just">
              <a:lnSpc>
                <a:spcPct val="150000"/>
              </a:lnSpc>
            </a:pPr>
            <a:r>
              <a:rPr lang="en-US" altLang="en-GB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Patient_ID uniquely identifies each patient.</a:t>
            </a:r>
          </a:p>
          <a:p>
            <a:pPr algn="just">
              <a:lnSpc>
                <a:spcPct val="150000"/>
              </a:lnSpc>
            </a:pP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Foreign Key Constraint</a:t>
            </a:r>
          </a:p>
          <a:p>
            <a:pPr algn="just">
              <a:lnSpc>
                <a:spcPct val="150000"/>
              </a:lnSpc>
            </a:pPr>
            <a:r>
              <a:rPr lang="en-US" altLang="en-GB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keys maintain relationships between tables.</a:t>
            </a:r>
          </a:p>
          <a:p>
            <a:pPr algn="just">
              <a:lnSpc>
                <a:spcPct val="150000"/>
              </a:lnSpc>
            </a:pPr>
            <a:r>
              <a:rPr lang="en-US" altLang="en-GB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foreign-key value should refer to an existing primary-key value.</a:t>
            </a:r>
          </a:p>
          <a:p>
            <a:pPr algn="just">
              <a:lnSpc>
                <a:spcPct val="150000"/>
              </a:lnSpc>
            </a:pPr>
            <a:r>
              <a:rPr lang="en-US" altLang="en-GB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Appointment.Patient_ID references Patient.Patient_ID.</a:t>
            </a:r>
          </a:p>
          <a:p>
            <a:pPr algn="just">
              <a:lnSpc>
                <a:spcPct val="150000"/>
              </a:lnSpc>
            </a:pP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NOT NULL Constraint</a:t>
            </a:r>
          </a:p>
          <a:p>
            <a:pPr algn="just">
              <a:lnSpc>
                <a:spcPct val="150000"/>
              </a:lnSpc>
            </a:pPr>
            <a:r>
              <a:rPr lang="en-US" altLang="en-GB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fields should not contain empty values.</a:t>
            </a:r>
          </a:p>
          <a:p>
            <a:pPr algn="just">
              <a:lnSpc>
                <a:spcPct val="150000"/>
              </a:lnSpc>
            </a:pP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pPr algn="just">
              <a:lnSpc>
                <a:spcPct val="150000"/>
              </a:lnSpc>
            </a:pPr>
            <a:r>
              <a:rPr lang="en-US" altLang="en-GB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Patient_ID</a:t>
            </a:r>
          </a:p>
          <a:p>
            <a:pPr algn="just">
              <a:lnSpc>
                <a:spcPct val="150000"/>
              </a:lnSpc>
            </a:pPr>
            <a:r>
              <a:rPr lang="en-US" altLang="en-GB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Patient_Name</a:t>
            </a:r>
          </a:p>
          <a:p>
            <a:pPr algn="just">
              <a:lnSpc>
                <a:spcPct val="150000"/>
              </a:lnSpc>
            </a:pPr>
            <a:r>
              <a:rPr lang="en-US" altLang="en-GB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Doctor_ID</a:t>
            </a:r>
          </a:p>
          <a:p>
            <a:pPr algn="just">
              <a:lnSpc>
                <a:spcPct val="150000"/>
              </a:lnSpc>
            </a:pPr>
            <a:endParaRPr lang="en-US" altLang="en-GB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object 3"/>
          <p:cNvGrpSpPr/>
          <p:nvPr/>
        </p:nvGrpSpPr>
        <p:grpSpPr>
          <a:xfrm>
            <a:off x="2812415" y="196657"/>
            <a:ext cx="5103904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/>
          <p:cNvSpPr txBox="1">
            <a:spLocks noGrp="1"/>
          </p:cNvSpPr>
          <p:nvPr>
            <p:ph type="title"/>
          </p:nvPr>
        </p:nvSpPr>
        <p:spPr>
          <a:xfrm>
            <a:off x="3945255" y="432435"/>
            <a:ext cx="2911475" cy="3162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alt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en-US" altLang="en-GB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CONSTRAINT</a:t>
            </a:r>
          </a:p>
        </p:txBody>
      </p:sp>
      <p:pic>
        <p:nvPicPr>
          <p:cNvPr id="11" name="object 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1295599"/>
            <a:ext cx="8610599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IN" sz="2000" dirty="0"/>
            </a:br>
            <a:endParaRPr lang="en-IN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9"/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pic>
        <p:nvPicPr>
          <p:cNvPr id="11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1148715"/>
            <a:ext cx="8610600" cy="6261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en-GB" sz="2000" b="1" dirty="0"/>
              <a:t>4. UNIQUE Constraint</a:t>
            </a:r>
          </a:p>
          <a:p>
            <a:endParaRPr lang="en-US" altLang="en-GB" sz="2000" dirty="0"/>
          </a:p>
          <a:p>
            <a:r>
              <a:rPr lang="en-US" altLang="en-GB" sz="2000" dirty="0"/>
              <a:t>Some attributes should contain unique values.</a:t>
            </a:r>
          </a:p>
          <a:p>
            <a:r>
              <a:rPr lang="en-US" altLang="en-GB" sz="2000" dirty="0"/>
              <a:t>Example:</a:t>
            </a:r>
          </a:p>
          <a:p>
            <a:r>
              <a:rPr lang="en-US" altLang="en-GB" sz="2000" dirty="0"/>
              <a:t>Doctor.Email</a:t>
            </a:r>
          </a:p>
          <a:p>
            <a:r>
              <a:rPr lang="en-US" altLang="en-GB" sz="2000" dirty="0"/>
              <a:t>Patient.Phone</a:t>
            </a:r>
          </a:p>
          <a:p>
            <a:endParaRPr lang="en-US" altLang="en-GB" sz="2000" dirty="0"/>
          </a:p>
          <a:p>
            <a:r>
              <a:rPr lang="en-US" altLang="en-GB" sz="2000" b="1" dirty="0"/>
              <a:t>5. Domain Constraint</a:t>
            </a:r>
          </a:p>
          <a:p>
            <a:r>
              <a:rPr lang="en-US" altLang="en-GB" sz="2000" dirty="0"/>
              <a:t>Attributes should contain valid values.</a:t>
            </a:r>
          </a:p>
          <a:p>
            <a:r>
              <a:rPr lang="en-US" altLang="en-GB" sz="2000" dirty="0"/>
              <a:t>Example:</a:t>
            </a:r>
          </a:p>
          <a:p>
            <a:r>
              <a:rPr lang="en-US" altLang="en-GB" sz="2000" dirty="0"/>
              <a:t>Age should be a valid positive number.</a:t>
            </a:r>
          </a:p>
          <a:p>
            <a:r>
              <a:rPr lang="en-US" altLang="en-GB" sz="2000" dirty="0"/>
              <a:t>Gender can be restricted to predefined values.</a:t>
            </a:r>
          </a:p>
          <a:p>
            <a:r>
              <a:rPr lang="en-US" altLang="en-GB" sz="2000" dirty="0"/>
              <a:t>Bill amount should not be negative.</a:t>
            </a:r>
          </a:p>
          <a:p>
            <a:endParaRPr lang="en-US" altLang="en-GB" sz="2000" dirty="0"/>
          </a:p>
          <a:p>
            <a:r>
              <a:rPr lang="en-US" altLang="en-GB" sz="2000" b="1" dirty="0"/>
              <a:t>6. Referential Integrity</a:t>
            </a:r>
            <a:endParaRPr lang="en-US" altLang="en-GB" sz="2000" dirty="0"/>
          </a:p>
          <a:p>
            <a:r>
              <a:rPr lang="en-US" altLang="en-GB" sz="2000" dirty="0"/>
              <a:t>A patient must exist before an appointment, admission, treatment, or bill can be associated with that patient.</a:t>
            </a:r>
            <a:endParaRPr lang="en-IN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/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/>
          <p:cNvSpPr txBox="1">
            <a:spLocks noGrp="1"/>
          </p:cNvSpPr>
          <p:nvPr>
            <p:ph type="title"/>
          </p:nvPr>
        </p:nvSpPr>
        <p:spPr>
          <a:xfrm>
            <a:off x="3945254" y="432593"/>
            <a:ext cx="2607945" cy="3162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alt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pic>
        <p:nvPicPr>
          <p:cNvPr id="13" name="object 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668020" y="979170"/>
            <a:ext cx="8860790" cy="648716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spcAft>
                <a:spcPct val="60000"/>
              </a:spcAft>
            </a:pPr>
            <a:r>
              <a:rPr lang="en-US" altLang="zh-CN" sz="2800" b="1"/>
              <a:t>Advantages:</a:t>
            </a:r>
          </a:p>
          <a:p>
            <a:pPr>
              <a:buAutoNum type="arabicPeriod"/>
            </a:pPr>
            <a:r>
              <a:rPr lang="en-US" altLang="zh-CN" sz="2400"/>
              <a:t>Reduces paperwork and manual work. </a:t>
            </a:r>
          </a:p>
          <a:p>
            <a:pPr>
              <a:buAutoNum type="arabicPeriod"/>
            </a:pPr>
            <a:r>
              <a:rPr lang="en-US" altLang="zh-CN" sz="2400"/>
              <a:t>Fast retrieval of patient and hospital information. </a:t>
            </a:r>
          </a:p>
          <a:p>
            <a:pPr>
              <a:buAutoNum type="arabicPeriod"/>
            </a:pPr>
            <a:r>
              <a:rPr lang="en-US" altLang="zh-CN" sz="2400"/>
              <a:t>Reduces data duplication. </a:t>
            </a:r>
          </a:p>
          <a:p>
            <a:pPr>
              <a:buAutoNum type="arabicPeriod"/>
            </a:pPr>
            <a:r>
              <a:rPr lang="en-US" altLang="zh-CN" sz="2400"/>
              <a:t>Improves data accuracy. </a:t>
            </a:r>
          </a:p>
          <a:p>
            <a:pPr>
              <a:buAutoNum type="arabicPeriod"/>
            </a:pPr>
            <a:r>
              <a:rPr lang="en-US" altLang="zh-CN" sz="2400"/>
              <a:t>Easy appointment management. </a:t>
            </a:r>
          </a:p>
          <a:p>
            <a:pPr>
              <a:buAutoNum type="arabicPeriod"/>
            </a:pPr>
            <a:r>
              <a:rPr lang="en-US" altLang="zh-CN" sz="2400"/>
              <a:t>Efficient patient record management. </a:t>
            </a:r>
          </a:p>
          <a:p>
            <a:pPr>
              <a:buAutoNum type="arabicPeriod"/>
            </a:pPr>
            <a:r>
              <a:rPr lang="en-US" altLang="zh-CN" sz="2400"/>
              <a:t>Easy billing and payment tracking. </a:t>
            </a:r>
          </a:p>
          <a:p>
            <a:pPr>
              <a:buAutoNum type="arabicPeriod"/>
            </a:pPr>
            <a:r>
              <a:rPr lang="en-US" altLang="zh-CN" sz="2400"/>
              <a:t>Improves communication between departments. </a:t>
            </a:r>
          </a:p>
          <a:p>
            <a:pPr>
              <a:buAutoNum type="arabicPeriod"/>
            </a:pPr>
            <a:r>
              <a:rPr lang="en-US" altLang="zh-CN" sz="2400"/>
              <a:t>Provides better data security through controlled access. </a:t>
            </a:r>
          </a:p>
          <a:p>
            <a:pPr>
              <a:buAutoNum type="arabicPeriod"/>
            </a:pPr>
            <a:r>
              <a:rPr lang="en-US" altLang="zh-CN" sz="2400"/>
              <a:t>Makes hospital operations more organized and efficient.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980" y="3469640"/>
            <a:ext cx="7056755" cy="1908810"/>
          </a:xfrm>
        </p:spPr>
        <p:txBody>
          <a:bodyPr>
            <a:noAutofit/>
          </a:bodyPr>
          <a:lstStyle/>
          <a:p>
            <a:r>
              <a:rPr lang="en-IN" sz="6600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THANK YOU</a:t>
            </a:r>
            <a:endParaRPr lang="en-GB" altLang="en-US" sz="660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55*354"/>
  <p:tag name="TABLE_ENDDRAG_RECT" val="61*197*655*35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81*416"/>
  <p:tag name="TABLE_ENDDRAG_RECT" val="55*130*681*41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81*412"/>
  <p:tag name="TABLE_ENDDRAG_RECT" val="55*157*681*41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853</Words>
  <Application>Microsoft Office PowerPoint</Application>
  <PresentationFormat>Custom</PresentationFormat>
  <Paragraphs>180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Cambria</vt:lpstr>
      <vt:lpstr>Palatino Linotype</vt:lpstr>
      <vt:lpstr>Times New Roman</vt:lpstr>
      <vt:lpstr>Office Theme</vt:lpstr>
      <vt:lpstr>Database Management Systems (DBMS) First Review</vt:lpstr>
      <vt:lpstr>PowerPoint Presentation</vt:lpstr>
      <vt:lpstr>ABSTRACT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CONSTRAINT</vt:lpstr>
      <vt:lpstr>METHODOLOGY</vt:lpstr>
      <vt:lpstr>ADVANTAGES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Management Systems (DBMS) First Review</dc:title>
  <dc:creator>p Vaishnavi</dc:creator>
  <cp:lastModifiedBy>P Vaishnavi</cp:lastModifiedBy>
  <cp:revision>4</cp:revision>
  <dcterms:created xsi:type="dcterms:W3CDTF">2026-08-13T01:20:00Z</dcterms:created>
  <dcterms:modified xsi:type="dcterms:W3CDTF">2026-08-14T05:52:37Z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BA69A960D5A44D4AB5D9014DD8EE2DFB_13</vt:lpwstr>
  </property>
  <property fmtid="{D5CDD505-2E9C-101B-9397-08002B2CF9AE}" pid="3" name="KSOProductBuildVer">
    <vt:lpwstr>2057-12.2.0.23206</vt:lpwstr>
  </property>
</Properties>
</file>
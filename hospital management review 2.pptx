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4"/>
  </p:notesMasterIdLst>
  <p:sldIdLst>
    <p:sldId id="256" r:id="rId5"/>
    <p:sldId id="318" r:id="rId6"/>
    <p:sldId id="258" r:id="rId7"/>
    <p:sldId id="303" r:id="rId8"/>
    <p:sldId id="317" r:id="rId9"/>
    <p:sldId id="315" r:id="rId10"/>
    <p:sldId id="309" r:id="rId11"/>
    <p:sldId id="310" r:id="rId12"/>
    <p:sldId id="311" r:id="rId13"/>
    <p:sldId id="287" r:id="rId14"/>
    <p:sldId id="313" r:id="rId15"/>
    <p:sldId id="292" r:id="rId16"/>
    <p:sldId id="293" r:id="rId17"/>
    <p:sldId id="294" r:id="rId18"/>
    <p:sldId id="295" r:id="rId19"/>
    <p:sldId id="296" r:id="rId20"/>
    <p:sldId id="299" r:id="rId21"/>
    <p:sldId id="312" r:id="rId22"/>
    <p:sldId id="269" r:id="rId23"/>
  </p:sldIdLst>
  <p:sldSz cx="10058400" cy="7772400"/>
  <p:notesSz cx="10058400" cy="7772400"/>
  <p:defaultTextStyle>
    <a:defPPr>
      <a:defRPr kern="0"/>
    </a:defPPr>
  </p:defaultTextStyle>
  <p:extLst>
    <p:ext uri="{521415D9-36F7-43E2-AB2F-B90AF26B5E84}">
      <p14:sectionLst xmlns:p14="http://schemas.microsoft.com/office/powerpoint/2010/main">
        <p14:section name="Default Section" id="{C0FC0098-AF54-4177-8F1B-238DA325A052}">
          <p14:sldIdLst>
            <p14:sldId id="256"/>
            <p14:sldId id="318"/>
            <p14:sldId id="258"/>
            <p14:sldId id="303"/>
            <p14:sldId id="317"/>
            <p14:sldId id="315"/>
            <p14:sldId id="309"/>
            <p14:sldId id="310"/>
            <p14:sldId id="311"/>
            <p14:sldId id="287"/>
            <p14:sldId id="313"/>
            <p14:sldId id="292"/>
            <p14:sldId id="293"/>
            <p14:sldId id="294"/>
            <p14:sldId id="295"/>
            <p14:sldId id="296"/>
            <p14:sldId id="299"/>
            <p14:sldId id="312"/>
            <p14:sldId id="269"/>
          </p14:sldIdLst>
        </p14:section>
        <p14:section name="Untitled Section" id="{439032BC-98D8-40A3-897D-F60A96B10B8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4FAAF4-2A0D-407F-BB2B-3EC0BD2A895E}" v="45" dt="2026-09-20T07:41:28.92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94660"/>
  </p:normalViewPr>
  <p:slideViewPr>
    <p:cSldViewPr>
      <p:cViewPr varScale="1">
        <p:scale>
          <a:sx n="69" d="100"/>
          <a:sy n="69" d="100"/>
        </p:scale>
        <p:origin x="1766" y="67"/>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5B11AI615" userId="698e6e9a-bb59-4a7b-9a69-bd0781d0987d" providerId="ADAL" clId="{5955BDE8-E435-46FB-98A2-380275E41F89}"/>
    <pc:docChg chg="addSld modSld">
      <pc:chgData name="25B11AI615" userId="698e6e9a-bb59-4a7b-9a69-bd0781d0987d" providerId="ADAL" clId="{5955BDE8-E435-46FB-98A2-380275E41F89}" dt="2026-09-20T07:41:28.923" v="51"/>
      <pc:docMkLst>
        <pc:docMk/>
      </pc:docMkLst>
      <pc:sldChg chg="modSp">
        <pc:chgData name="25B11AI615" userId="698e6e9a-bb59-4a7b-9a69-bd0781d0987d" providerId="ADAL" clId="{5955BDE8-E435-46FB-98A2-380275E41F89}" dt="2026-09-20T07:41:28.923" v="51"/>
        <pc:sldMkLst>
          <pc:docMk/>
          <pc:sldMk cId="0" sldId="256"/>
        </pc:sldMkLst>
        <pc:spChg chg="mod">
          <ac:chgData name="25B11AI615" userId="698e6e9a-bb59-4a7b-9a69-bd0781d0987d" providerId="ADAL" clId="{5955BDE8-E435-46FB-98A2-380275E41F89}" dt="2026-09-20T07:41:28.923" v="51"/>
          <ac:spMkLst>
            <pc:docMk/>
            <pc:sldMk cId="0" sldId="256"/>
            <ac:spMk id="4" creationId="{00000000-0000-0000-0000-000000000000}"/>
          </ac:spMkLst>
        </pc:spChg>
      </pc:sldChg>
      <pc:sldChg chg="addSp modSp">
        <pc:chgData name="25B11AI615" userId="698e6e9a-bb59-4a7b-9a69-bd0781d0987d" providerId="ADAL" clId="{5955BDE8-E435-46FB-98A2-380275E41F89}" dt="2026-09-20T06:42:32.403" v="27"/>
        <pc:sldMkLst>
          <pc:docMk/>
          <pc:sldMk cId="1510185755" sldId="287"/>
        </pc:sldMkLst>
        <pc:spChg chg="add mod">
          <ac:chgData name="25B11AI615" userId="698e6e9a-bb59-4a7b-9a69-bd0781d0987d" providerId="ADAL" clId="{5955BDE8-E435-46FB-98A2-380275E41F89}" dt="2026-09-20T06:40:28.912" v="25"/>
          <ac:spMkLst>
            <pc:docMk/>
            <pc:sldMk cId="1510185755" sldId="287"/>
            <ac:spMk id="9" creationId="{BC652146-1676-2280-F7E2-6FE3DB5B58A9}"/>
          </ac:spMkLst>
        </pc:spChg>
        <pc:spChg chg="add mod">
          <ac:chgData name="25B11AI615" userId="698e6e9a-bb59-4a7b-9a69-bd0781d0987d" providerId="ADAL" clId="{5955BDE8-E435-46FB-98A2-380275E41F89}" dt="2026-09-20T06:42:32.403" v="27"/>
          <ac:spMkLst>
            <pc:docMk/>
            <pc:sldMk cId="1510185755" sldId="287"/>
            <ac:spMk id="11" creationId="{7FB1D163-BBA8-1942-5741-1FCF84775849}"/>
          </ac:spMkLst>
        </pc:spChg>
        <pc:graphicFrameChg chg="add mod">
          <ac:chgData name="25B11AI615" userId="698e6e9a-bb59-4a7b-9a69-bd0781d0987d" providerId="ADAL" clId="{5955BDE8-E435-46FB-98A2-380275E41F89}" dt="2026-09-20T06:39:47.861" v="23"/>
          <ac:graphicFrameMkLst>
            <pc:docMk/>
            <pc:sldMk cId="1510185755" sldId="287"/>
            <ac:graphicFrameMk id="8" creationId="{2BE75C41-47C6-D93A-321F-74C6391D0C84}"/>
          </ac:graphicFrameMkLst>
        </pc:graphicFrameChg>
      </pc:sldChg>
      <pc:sldChg chg="addSp">
        <pc:chgData name="25B11AI615" userId="698e6e9a-bb59-4a7b-9a69-bd0781d0987d" providerId="ADAL" clId="{5955BDE8-E435-46FB-98A2-380275E41F89}" dt="2026-09-20T06:56:45.708" v="28"/>
        <pc:sldMkLst>
          <pc:docMk/>
          <pc:sldMk cId="26077263" sldId="292"/>
        </pc:sldMkLst>
        <pc:picChg chg="add">
          <ac:chgData name="25B11AI615" userId="698e6e9a-bb59-4a7b-9a69-bd0781d0987d" providerId="ADAL" clId="{5955BDE8-E435-46FB-98A2-380275E41F89}" dt="2026-09-20T06:56:45.708" v="28"/>
          <ac:picMkLst>
            <pc:docMk/>
            <pc:sldMk cId="26077263" sldId="292"/>
            <ac:picMk id="9" creationId="{B5383353-F246-2654-8AC2-7696075A5228}"/>
          </ac:picMkLst>
        </pc:picChg>
      </pc:sldChg>
      <pc:sldChg chg="addSp delSp modSp">
        <pc:chgData name="25B11AI615" userId="698e6e9a-bb59-4a7b-9a69-bd0781d0987d" providerId="ADAL" clId="{5955BDE8-E435-46FB-98A2-380275E41F89}" dt="2026-09-20T07:20:24.621" v="45"/>
        <pc:sldMkLst>
          <pc:docMk/>
          <pc:sldMk cId="144075212" sldId="293"/>
        </pc:sldMkLst>
        <pc:spChg chg="add mod">
          <ac:chgData name="25B11AI615" userId="698e6e9a-bb59-4a7b-9a69-bd0781d0987d" providerId="ADAL" clId="{5955BDE8-E435-46FB-98A2-380275E41F89}" dt="2026-09-20T07:14:17.993" v="41"/>
          <ac:spMkLst>
            <pc:docMk/>
            <pc:sldMk cId="144075212" sldId="293"/>
            <ac:spMk id="8" creationId="{F893892B-F78B-F4AB-A7D1-4EEA91F66DD6}"/>
          </ac:spMkLst>
        </pc:spChg>
        <pc:spChg chg="add del mod">
          <ac:chgData name="25B11AI615" userId="698e6e9a-bb59-4a7b-9a69-bd0781d0987d" providerId="ADAL" clId="{5955BDE8-E435-46FB-98A2-380275E41F89}" dt="2026-09-20T07:16:03.743" v="43"/>
          <ac:spMkLst>
            <pc:docMk/>
            <pc:sldMk cId="144075212" sldId="293"/>
            <ac:spMk id="9" creationId="{D7AC0BAA-9DD2-2BA0-EF0C-3E2A7B09306C}"/>
          </ac:spMkLst>
        </pc:spChg>
        <pc:spChg chg="add del mod">
          <ac:chgData name="25B11AI615" userId="698e6e9a-bb59-4a7b-9a69-bd0781d0987d" providerId="ADAL" clId="{5955BDE8-E435-46FB-98A2-380275E41F89}" dt="2026-09-20T07:16:03.741" v="42"/>
          <ac:spMkLst>
            <pc:docMk/>
            <pc:sldMk cId="144075212" sldId="293"/>
            <ac:spMk id="11" creationId="{4BE8913F-EE79-2206-0F23-6A2F2DE6D646}"/>
          </ac:spMkLst>
        </pc:spChg>
        <pc:spChg chg="add mod">
          <ac:chgData name="25B11AI615" userId="698e6e9a-bb59-4a7b-9a69-bd0781d0987d" providerId="ADAL" clId="{5955BDE8-E435-46FB-98A2-380275E41F89}" dt="2026-09-20T07:20:24.621" v="45"/>
          <ac:spMkLst>
            <pc:docMk/>
            <pc:sldMk cId="144075212" sldId="293"/>
            <ac:spMk id="12" creationId="{D2196FBF-39A8-98AA-C2D0-EFE3F6D1C441}"/>
          </ac:spMkLst>
        </pc:spChg>
      </pc:sldChg>
      <pc:sldChg chg="addSp">
        <pc:chgData name="25B11AI615" userId="698e6e9a-bb59-4a7b-9a69-bd0781d0987d" providerId="ADAL" clId="{5955BDE8-E435-46FB-98A2-380275E41F89}" dt="2026-09-20T07:25:18.961" v="46"/>
        <pc:sldMkLst>
          <pc:docMk/>
          <pc:sldMk cId="552543327" sldId="294"/>
        </pc:sldMkLst>
        <pc:picChg chg="add">
          <ac:chgData name="25B11AI615" userId="698e6e9a-bb59-4a7b-9a69-bd0781d0987d" providerId="ADAL" clId="{5955BDE8-E435-46FB-98A2-380275E41F89}" dt="2026-09-20T07:25:18.961" v="46"/>
          <ac:picMkLst>
            <pc:docMk/>
            <pc:sldMk cId="552543327" sldId="294"/>
            <ac:picMk id="8" creationId="{8456E545-717A-1751-457F-CEF0210A59D3}"/>
          </ac:picMkLst>
        </pc:picChg>
      </pc:sldChg>
      <pc:sldChg chg="addSp">
        <pc:chgData name="25B11AI615" userId="698e6e9a-bb59-4a7b-9a69-bd0781d0987d" providerId="ADAL" clId="{5955BDE8-E435-46FB-98A2-380275E41F89}" dt="2026-09-20T07:29:11.255" v="47"/>
        <pc:sldMkLst>
          <pc:docMk/>
          <pc:sldMk cId="4218948675" sldId="295"/>
        </pc:sldMkLst>
        <pc:picChg chg="add">
          <ac:chgData name="25B11AI615" userId="698e6e9a-bb59-4a7b-9a69-bd0781d0987d" providerId="ADAL" clId="{5955BDE8-E435-46FB-98A2-380275E41F89}" dt="2026-09-20T07:29:11.255" v="47"/>
          <ac:picMkLst>
            <pc:docMk/>
            <pc:sldMk cId="4218948675" sldId="295"/>
            <ac:picMk id="8" creationId="{E2404B36-261B-CEBB-D676-8F37A6D08C10}"/>
          </ac:picMkLst>
        </pc:picChg>
      </pc:sldChg>
      <pc:sldChg chg="addSp">
        <pc:chgData name="25B11AI615" userId="698e6e9a-bb59-4a7b-9a69-bd0781d0987d" providerId="ADAL" clId="{5955BDE8-E435-46FB-98A2-380275E41F89}" dt="2026-09-20T07:31:55.658" v="48"/>
        <pc:sldMkLst>
          <pc:docMk/>
          <pc:sldMk cId="3221489252" sldId="296"/>
        </pc:sldMkLst>
        <pc:picChg chg="add">
          <ac:chgData name="25B11AI615" userId="698e6e9a-bb59-4a7b-9a69-bd0781d0987d" providerId="ADAL" clId="{5955BDE8-E435-46FB-98A2-380275E41F89}" dt="2026-09-20T07:31:55.658" v="48"/>
          <ac:picMkLst>
            <pc:docMk/>
            <pc:sldMk cId="3221489252" sldId="296"/>
            <ac:picMk id="8" creationId="{865F0790-34B8-FC4C-0981-1E5911025EC4}"/>
          </ac:picMkLst>
        </pc:picChg>
      </pc:sldChg>
      <pc:sldChg chg="modSp">
        <pc:chgData name="25B11AI615" userId="698e6e9a-bb59-4a7b-9a69-bd0781d0987d" providerId="ADAL" clId="{5955BDE8-E435-46FB-98A2-380275E41F89}" dt="2026-09-20T06:19:50.251" v="3"/>
        <pc:sldMkLst>
          <pc:docMk/>
          <pc:sldMk cId="2620546127" sldId="309"/>
        </pc:sldMkLst>
        <pc:graphicFrameChg chg="mod">
          <ac:chgData name="25B11AI615" userId="698e6e9a-bb59-4a7b-9a69-bd0781d0987d" providerId="ADAL" clId="{5955BDE8-E435-46FB-98A2-380275E41F89}" dt="2026-09-20T06:19:50.251" v="3"/>
          <ac:graphicFrameMkLst>
            <pc:docMk/>
            <pc:sldMk cId="2620546127" sldId="309"/>
            <ac:graphicFrameMk id="9" creationId="{E245FC66-4C6F-F1CD-95F3-73AD63A71304}"/>
          </ac:graphicFrameMkLst>
        </pc:graphicFrameChg>
      </pc:sldChg>
      <pc:sldChg chg="addSp delSp modSp">
        <pc:chgData name="25B11AI615" userId="698e6e9a-bb59-4a7b-9a69-bd0781d0987d" providerId="ADAL" clId="{5955BDE8-E435-46FB-98A2-380275E41F89}" dt="2026-09-20T07:12:48.693" v="40"/>
        <pc:sldMkLst>
          <pc:docMk/>
          <pc:sldMk cId="713154225" sldId="311"/>
        </pc:sldMkLst>
        <pc:spChg chg="del mod">
          <ac:chgData name="25B11AI615" userId="698e6e9a-bb59-4a7b-9a69-bd0781d0987d" providerId="ADAL" clId="{5955BDE8-E435-46FB-98A2-380275E41F89}" dt="2026-09-20T06:30:17.347" v="14"/>
          <ac:spMkLst>
            <pc:docMk/>
            <pc:sldMk cId="713154225" sldId="311"/>
            <ac:spMk id="2" creationId="{4962AB50-2AB9-E205-9783-01723ACD516F}"/>
          </ac:spMkLst>
        </pc:spChg>
        <pc:spChg chg="mod">
          <ac:chgData name="25B11AI615" userId="698e6e9a-bb59-4a7b-9a69-bd0781d0987d" providerId="ADAL" clId="{5955BDE8-E435-46FB-98A2-380275E41F89}" dt="2026-09-20T06:30:20.475" v="15"/>
          <ac:spMkLst>
            <pc:docMk/>
            <pc:sldMk cId="713154225" sldId="311"/>
            <ac:spMk id="13" creationId="{5E6D93D7-A14F-7157-3CA8-F9D41F96E1E0}"/>
          </ac:spMkLst>
        </pc:spChg>
        <pc:spChg chg="add del mod">
          <ac:chgData name="25B11AI615" userId="698e6e9a-bb59-4a7b-9a69-bd0781d0987d" providerId="ADAL" clId="{5955BDE8-E435-46FB-98A2-380275E41F89}" dt="2026-09-20T06:31:55.161" v="18"/>
          <ac:spMkLst>
            <pc:docMk/>
            <pc:sldMk cId="713154225" sldId="311"/>
            <ac:spMk id="16" creationId="{183E2AD2-F878-300D-4131-E8EBDAEAE82B}"/>
          </ac:spMkLst>
        </pc:spChg>
        <pc:spChg chg="add mod">
          <ac:chgData name="25B11AI615" userId="698e6e9a-bb59-4a7b-9a69-bd0781d0987d" providerId="ADAL" clId="{5955BDE8-E435-46FB-98A2-380275E41F89}" dt="2026-09-20T07:11:25.631" v="37"/>
          <ac:spMkLst>
            <pc:docMk/>
            <pc:sldMk cId="713154225" sldId="311"/>
            <ac:spMk id="18" creationId="{36EABE8B-7D97-7D78-897B-AF28218287C7}"/>
          </ac:spMkLst>
        </pc:spChg>
        <pc:spChg chg="add mod">
          <ac:chgData name="25B11AI615" userId="698e6e9a-bb59-4a7b-9a69-bd0781d0987d" providerId="ADAL" clId="{5955BDE8-E435-46FB-98A2-380275E41F89}" dt="2026-09-20T07:12:48.693" v="40"/>
          <ac:spMkLst>
            <pc:docMk/>
            <pc:sldMk cId="713154225" sldId="311"/>
            <ac:spMk id="19" creationId="{83FD0C06-ACB5-790C-3243-B67A6DEC89FF}"/>
          </ac:spMkLst>
        </pc:spChg>
        <pc:grpChg chg="add mod">
          <ac:chgData name="25B11AI615" userId="698e6e9a-bb59-4a7b-9a69-bd0781d0987d" providerId="ADAL" clId="{5955BDE8-E435-46FB-98A2-380275E41F89}" dt="2026-09-20T06:30:20.475" v="15"/>
          <ac:grpSpMkLst>
            <pc:docMk/>
            <pc:sldMk cId="713154225" sldId="311"/>
            <ac:grpSpMk id="3" creationId="{2E4A81BD-09A6-900D-B00F-ED8C70B0540C}"/>
          </ac:grpSpMkLst>
        </pc:grpChg>
        <pc:picChg chg="mod">
          <ac:chgData name="25B11AI615" userId="698e6e9a-bb59-4a7b-9a69-bd0781d0987d" providerId="ADAL" clId="{5955BDE8-E435-46FB-98A2-380275E41F89}" dt="2026-09-20T06:30:20.475" v="15"/>
          <ac:picMkLst>
            <pc:docMk/>
            <pc:sldMk cId="713154225" sldId="311"/>
            <ac:picMk id="10" creationId="{D704D547-1718-BBA4-DEBA-3308C984AC1A}"/>
          </ac:picMkLst>
        </pc:picChg>
        <pc:picChg chg="mod">
          <ac:chgData name="25B11AI615" userId="698e6e9a-bb59-4a7b-9a69-bd0781d0987d" providerId="ADAL" clId="{5955BDE8-E435-46FB-98A2-380275E41F89}" dt="2026-09-20T06:30:20.475" v="15"/>
          <ac:picMkLst>
            <pc:docMk/>
            <pc:sldMk cId="713154225" sldId="311"/>
            <ac:picMk id="11" creationId="{C01F76CE-9510-497A-DEBA-DA362C414B59}"/>
          </ac:picMkLst>
        </pc:picChg>
        <pc:picChg chg="mod">
          <ac:chgData name="25B11AI615" userId="698e6e9a-bb59-4a7b-9a69-bd0781d0987d" providerId="ADAL" clId="{5955BDE8-E435-46FB-98A2-380275E41F89}" dt="2026-09-20T06:30:20.475" v="15"/>
          <ac:picMkLst>
            <pc:docMk/>
            <pc:sldMk cId="713154225" sldId="311"/>
            <ac:picMk id="12" creationId="{1465FB02-57DE-9894-4DD0-1D2AA539F3BB}"/>
          </ac:picMkLst>
        </pc:picChg>
      </pc:sldChg>
      <pc:sldChg chg="modSp">
        <pc:chgData name="25B11AI615" userId="698e6e9a-bb59-4a7b-9a69-bd0781d0987d" providerId="ADAL" clId="{5955BDE8-E435-46FB-98A2-380275E41F89}" dt="2026-09-20T07:38:24.610" v="49"/>
        <pc:sldMkLst>
          <pc:docMk/>
          <pc:sldMk cId="492328567" sldId="312"/>
        </pc:sldMkLst>
        <pc:spChg chg="mod">
          <ac:chgData name="25B11AI615" userId="698e6e9a-bb59-4a7b-9a69-bd0781d0987d" providerId="ADAL" clId="{5955BDE8-E435-46FB-98A2-380275E41F89}" dt="2026-09-20T07:38:24.610" v="49"/>
          <ac:spMkLst>
            <pc:docMk/>
            <pc:sldMk cId="492328567" sldId="312"/>
            <ac:spMk id="11" creationId="{89621A69-BD1A-E409-F7B3-60D74B92C554}"/>
          </ac:spMkLst>
        </pc:spChg>
      </pc:sldChg>
      <pc:sldChg chg="addSp delSp modSp">
        <pc:chgData name="25B11AI615" userId="698e6e9a-bb59-4a7b-9a69-bd0781d0987d" providerId="ADAL" clId="{5955BDE8-E435-46FB-98A2-380275E41F89}" dt="2026-09-20T06:30:04.171" v="13" actId="767"/>
        <pc:sldMkLst>
          <pc:docMk/>
          <pc:sldMk cId="126265270" sldId="319"/>
        </pc:sldMkLst>
        <pc:spChg chg="add del mod">
          <ac:chgData name="25B11AI615" userId="698e6e9a-bb59-4a7b-9a69-bd0781d0987d" providerId="ADAL" clId="{5955BDE8-E435-46FB-98A2-380275E41F89}" dt="2026-09-20T06:29:02.321" v="6"/>
          <ac:spMkLst>
            <pc:docMk/>
            <pc:sldMk cId="126265270" sldId="319"/>
            <ac:spMk id="2" creationId="{EC1BF67D-6D9F-7031-E75E-06383CEAA996}"/>
          </ac:spMkLst>
        </pc:spChg>
        <pc:spChg chg="add del mod">
          <ac:chgData name="25B11AI615" userId="698e6e9a-bb59-4a7b-9a69-bd0781d0987d" providerId="ADAL" clId="{5955BDE8-E435-46FB-98A2-380275E41F89}" dt="2026-09-20T06:30:04.171" v="13" actId="767"/>
          <ac:spMkLst>
            <pc:docMk/>
            <pc:sldMk cId="126265270" sldId="319"/>
            <ac:spMk id="3" creationId="{C0E6502B-DB32-6154-C035-BCE5195DCC0D}"/>
          </ac:spMkLst>
        </pc:spChg>
        <pc:spChg chg="add del mod">
          <ac:chgData name="25B11AI615" userId="698e6e9a-bb59-4a7b-9a69-bd0781d0987d" providerId="ADAL" clId="{5955BDE8-E435-46FB-98A2-380275E41F89}" dt="2026-09-20T06:30:03.173" v="12" actId="767"/>
          <ac:spMkLst>
            <pc:docMk/>
            <pc:sldMk cId="126265270" sldId="319"/>
            <ac:spMk id="4" creationId="{D6E50370-BDCE-5E32-ADF1-9B34AD895722}"/>
          </ac:spMkLst>
        </pc:spChg>
        <pc:spChg chg="mod">
          <ac:chgData name="25B11AI615" userId="698e6e9a-bb59-4a7b-9a69-bd0781d0987d" providerId="ADAL" clId="{5955BDE8-E435-46FB-98A2-380275E41F89}" dt="2026-09-20T06:29:25.880" v="11"/>
          <ac:spMkLst>
            <pc:docMk/>
            <pc:sldMk cId="126265270" sldId="319"/>
            <ac:spMk id="9" creationId="{1DCB12FD-88E4-2808-6226-097B365BBF49}"/>
          </ac:spMkLst>
        </pc:spChg>
        <pc:grpChg chg="add mod">
          <ac:chgData name="25B11AI615" userId="698e6e9a-bb59-4a7b-9a69-bd0781d0987d" providerId="ADAL" clId="{5955BDE8-E435-46FB-98A2-380275E41F89}" dt="2026-09-20T06:29:25.880" v="11"/>
          <ac:grpSpMkLst>
            <pc:docMk/>
            <pc:sldMk cId="126265270" sldId="319"/>
            <ac:grpSpMk id="5" creationId="{B0780CF6-BC32-76AA-7284-2B233F7E8312}"/>
          </ac:grpSpMkLst>
        </pc:grpChg>
        <pc:picChg chg="mod">
          <ac:chgData name="25B11AI615" userId="698e6e9a-bb59-4a7b-9a69-bd0781d0987d" providerId="ADAL" clId="{5955BDE8-E435-46FB-98A2-380275E41F89}" dt="2026-09-20T06:29:25.880" v="11"/>
          <ac:picMkLst>
            <pc:docMk/>
            <pc:sldMk cId="126265270" sldId="319"/>
            <ac:picMk id="6" creationId="{0316B14A-8D72-C972-3A03-BB0BA6909EA2}"/>
          </ac:picMkLst>
        </pc:picChg>
        <pc:picChg chg="mod">
          <ac:chgData name="25B11AI615" userId="698e6e9a-bb59-4a7b-9a69-bd0781d0987d" providerId="ADAL" clId="{5955BDE8-E435-46FB-98A2-380275E41F89}" dt="2026-09-20T06:29:25.880" v="11"/>
          <ac:picMkLst>
            <pc:docMk/>
            <pc:sldMk cId="126265270" sldId="319"/>
            <ac:picMk id="7" creationId="{AC59A5A2-363F-AFEE-8692-A8A0A0E358AB}"/>
          </ac:picMkLst>
        </pc:picChg>
        <pc:picChg chg="mod">
          <ac:chgData name="25B11AI615" userId="698e6e9a-bb59-4a7b-9a69-bd0781d0987d" providerId="ADAL" clId="{5955BDE8-E435-46FB-98A2-380275E41F89}" dt="2026-09-20T06:29:25.880" v="11"/>
          <ac:picMkLst>
            <pc:docMk/>
            <pc:sldMk cId="126265270" sldId="319"/>
            <ac:picMk id="8" creationId="{6768EA77-120E-035B-7F9B-0BC10BCC8BDE}"/>
          </ac:picMkLst>
        </pc:picChg>
      </pc:sldChg>
      <pc:sldChg chg="add">
        <pc:chgData name="25B11AI615" userId="698e6e9a-bb59-4a7b-9a69-bd0781d0987d" providerId="ADAL" clId="{5955BDE8-E435-46FB-98A2-380275E41F89}" dt="2026-09-20T06:30:38.408" v="16"/>
        <pc:sldMkLst>
          <pc:docMk/>
          <pc:sldMk cId="4266096213" sldId="319"/>
        </pc:sldMkLst>
      </pc:sldChg>
      <pc:sldChg chg="modSp add">
        <pc:chgData name="25B11AI615" userId="698e6e9a-bb59-4a7b-9a69-bd0781d0987d" providerId="ADAL" clId="{5955BDE8-E435-46FB-98A2-380275E41F89}" dt="2026-09-20T06:34:39.379" v="22"/>
        <pc:sldMkLst>
          <pc:docMk/>
          <pc:sldMk cId="356650084" sldId="320"/>
        </pc:sldMkLst>
        <pc:spChg chg="mod">
          <ac:chgData name="25B11AI615" userId="698e6e9a-bb59-4a7b-9a69-bd0781d0987d" providerId="ADAL" clId="{5955BDE8-E435-46FB-98A2-380275E41F89}" dt="2026-09-20T06:34:39.379" v="22"/>
          <ac:spMkLst>
            <pc:docMk/>
            <pc:sldMk cId="356650084" sldId="320"/>
            <ac:spMk id="3" creationId="{FD00B198-0397-5033-F264-067128AC505A}"/>
          </ac:spMkLst>
        </pc:spChg>
      </pc:sldChg>
      <pc:sldChg chg="modSp add">
        <pc:chgData name="25B11AI615" userId="698e6e9a-bb59-4a7b-9a69-bd0781d0987d" providerId="ADAL" clId="{5955BDE8-E435-46FB-98A2-380275E41F89}" dt="2026-09-20T07:08:43.140" v="36"/>
        <pc:sldMkLst>
          <pc:docMk/>
          <pc:sldMk cId="4222309089" sldId="321"/>
        </pc:sldMkLst>
        <pc:spChg chg="mod">
          <ac:chgData name="25B11AI615" userId="698e6e9a-bb59-4a7b-9a69-bd0781d0987d" providerId="ADAL" clId="{5955BDE8-E435-46FB-98A2-380275E41F89}" dt="2026-09-20T07:08:43.140" v="36"/>
          <ac:spMkLst>
            <pc:docMk/>
            <pc:sldMk cId="4222309089" sldId="321"/>
            <ac:spMk id="8" creationId="{85C9AD98-71DB-23C1-D79C-FC58CEA46F1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20-09-2026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921254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385074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305765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219004" y="968829"/>
            <a:ext cx="7560839" cy="2074414"/>
          </a:xfrm>
          <a:prstGeom prst="rect">
            <a:avLst/>
          </a:prstGeom>
          <a:ln>
            <a:solidFill>
              <a:schemeClr val="accent1"/>
            </a:solidFill>
          </a:ln>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DATABASE MANEGEMENT SYSTEM</a:t>
            </a:r>
            <a:br>
              <a:rPr lang="en-IN" sz="2400" spc="-10" dirty="0">
                <a:latin typeface="Times New Roman" panose="02020603050405020304" pitchFamily="18" charset="0"/>
                <a:cs typeface="Times New Roman" panose="02020603050405020304" pitchFamily="18" charset="0"/>
              </a:rPr>
            </a:br>
            <a:r>
              <a:rPr lang="en-IN" sz="2400" spc="-10" dirty="0">
                <a:latin typeface="Times New Roman" panose="02020603050405020304" pitchFamily="18" charset="0"/>
                <a:cs typeface="Times New Roman" panose="02020603050405020304" pitchFamily="18" charset="0"/>
              </a:rPr>
              <a:t>Cornerstone Project</a:t>
            </a:r>
            <a:br>
              <a:rPr lang="en-IN" sz="2200" spc="-10" dirty="0">
                <a:latin typeface="Times New Roman" panose="02020603050405020304" pitchFamily="18" charset="0"/>
                <a:cs typeface="Times New Roman" panose="02020603050405020304" pitchFamily="18" charset="0"/>
              </a:rPr>
            </a:br>
            <a:br>
              <a:rPr lang="en-IN" sz="2200" spc="-10" dirty="0">
                <a:latin typeface="Times New Roman" panose="02020603050405020304" pitchFamily="18" charset="0"/>
                <a:cs typeface="Times New Roman" panose="02020603050405020304" pitchFamily="18" charset="0"/>
              </a:rPr>
            </a:b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1219005" y="2230016"/>
            <a:ext cx="7811750" cy="5215530"/>
          </a:xfrm>
          <a:prstGeom prst="rect">
            <a:avLst/>
          </a:prstGeom>
        </p:spPr>
        <p:txBody>
          <a:bodyPr vert="horz" wrap="square" lIns="0" tIns="16510" rIns="0" bIns="0" rtlCol="0">
            <a:spAutoFit/>
          </a:bodyPr>
          <a:lstStyle/>
          <a:p>
            <a:pPr algn="ctr">
              <a:lnSpc>
                <a:spcPct val="100000"/>
              </a:lnSpc>
              <a:spcBef>
                <a:spcPts val="130"/>
              </a:spcBef>
            </a:pPr>
            <a:endParaRPr lang="en-IN" sz="2400" dirty="0"/>
          </a:p>
          <a:p>
            <a:pPr algn="ctr">
              <a:lnSpc>
                <a:spcPct val="100000"/>
              </a:lnSpc>
              <a:spcBef>
                <a:spcPts val="130"/>
              </a:spcBef>
            </a:pPr>
            <a:r>
              <a:rPr lang="en-US" sz="2200" dirty="0">
                <a:latin typeface="Times New Roman" panose="02020603050405020304" pitchFamily="18" charset="0"/>
                <a:cs typeface="Times New Roman" panose="02020603050405020304" pitchFamily="18" charset="0"/>
              </a:rPr>
              <a:t>HOSPITAL MANAGEMENT SYSTEM </a:t>
            </a:r>
          </a:p>
          <a:p>
            <a:pPr algn="ctr">
              <a:lnSpc>
                <a:spcPct val="100000"/>
              </a:lnSpc>
              <a:spcBef>
                <a:spcPts val="130"/>
              </a:spcBef>
            </a:pPr>
            <a:endParaRPr lang="en-IN" sz="2200"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200" spc="-25" dirty="0">
                <a:solidFill>
                  <a:schemeClr val="tx2"/>
                </a:solidFill>
                <a:latin typeface="Times New Roman" panose="02020603050405020304" pitchFamily="18" charset="0"/>
                <a:cs typeface="Times New Roman" panose="02020603050405020304" pitchFamily="18" charset="0"/>
              </a:rPr>
              <a:t>B.BHARGAVI(25B11AI166)</a:t>
            </a:r>
          </a:p>
          <a:p>
            <a:pPr algn="ctr">
              <a:lnSpc>
                <a:spcPct val="100000"/>
              </a:lnSpc>
              <a:spcBef>
                <a:spcPts val="130"/>
              </a:spcBef>
            </a:pPr>
            <a:r>
              <a:rPr lang="en-IN" sz="2200" spc="-25" dirty="0">
                <a:solidFill>
                  <a:schemeClr val="tx2"/>
                </a:solidFill>
                <a:latin typeface="Times New Roman" panose="02020603050405020304" pitchFamily="18" charset="0"/>
                <a:cs typeface="Times New Roman" panose="02020603050405020304" pitchFamily="18" charset="0"/>
              </a:rPr>
              <a:t>K.RAMADEVI(25B11AI615)</a:t>
            </a:r>
          </a:p>
          <a:p>
            <a:pPr algn="ctr">
              <a:lnSpc>
                <a:spcPct val="100000"/>
              </a:lnSpc>
              <a:spcBef>
                <a:spcPts val="130"/>
              </a:spcBef>
            </a:pPr>
            <a:r>
              <a:rPr lang="en-IN" sz="2200" spc="-25" dirty="0">
                <a:solidFill>
                  <a:schemeClr val="tx2"/>
                </a:solidFill>
                <a:latin typeface="Times New Roman" panose="02020603050405020304" pitchFamily="18" charset="0"/>
                <a:cs typeface="Times New Roman" panose="02020603050405020304" pitchFamily="18" charset="0"/>
              </a:rPr>
              <a:t>P.VAISHNAVI(25B11AIC35)</a:t>
            </a:r>
          </a:p>
          <a:p>
            <a:pPr algn="ctr">
              <a:lnSpc>
                <a:spcPct val="100000"/>
              </a:lnSpc>
              <a:spcBef>
                <a:spcPts val="130"/>
              </a:spcBef>
            </a:pPr>
            <a:r>
              <a:rPr lang="en-IN" sz="2200" spc="-25" dirty="0">
                <a:solidFill>
                  <a:schemeClr val="tx2"/>
                </a:solidFill>
                <a:latin typeface="Times New Roman" panose="02020603050405020304" pitchFamily="18" charset="0"/>
                <a:cs typeface="Times New Roman" panose="02020603050405020304" pitchFamily="18" charset="0"/>
              </a:rPr>
              <a:t>TRIPURA(25B11AI020)</a:t>
            </a:r>
            <a:endParaRPr lang="en-US" sz="2200" spc="-25" dirty="0">
              <a:solidFill>
                <a:schemeClr val="tx2"/>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200" spc="-25" dirty="0">
                <a:solidFill>
                  <a:srgbClr val="7030A0"/>
                </a:solidFill>
                <a:latin typeface="Times New Roman" panose="02020603050405020304" pitchFamily="18" charset="0"/>
                <a:cs typeface="Times New Roman" panose="02020603050405020304" pitchFamily="18" charset="0"/>
              </a:rPr>
              <a:t>Guided by</a:t>
            </a:r>
          </a:p>
          <a:p>
            <a:pPr algn="ctr">
              <a:lnSpc>
                <a:spcPct val="100000"/>
              </a:lnSpc>
              <a:spcBef>
                <a:spcPts val="130"/>
              </a:spcBef>
            </a:pPr>
            <a:r>
              <a:rPr lang="en-IN" sz="2200" spc="-25" dirty="0">
                <a:solidFill>
                  <a:srgbClr val="7030A0"/>
                </a:solidFill>
                <a:latin typeface="Times New Roman" panose="02020603050405020304" pitchFamily="18" charset="0"/>
                <a:cs typeface="Times New Roman" panose="02020603050405020304" pitchFamily="18" charset="0"/>
              </a:rPr>
              <a:t>Mrs G. L. NARASAMBA VANGURI MADAM</a:t>
            </a:r>
          </a:p>
          <a:p>
            <a:pPr algn="ctr">
              <a:lnSpc>
                <a:spcPct val="100000"/>
              </a:lnSpc>
              <a:spcBef>
                <a:spcPts val="130"/>
              </a:spcBef>
            </a:pPr>
            <a:r>
              <a:rPr lang="en-IN" sz="2200" spc="-25" dirty="0">
                <a:solidFill>
                  <a:srgbClr val="7030A0"/>
                </a:solidFill>
                <a:latin typeface="Times New Roman" panose="02020603050405020304" pitchFamily="18" charset="0"/>
                <a:cs typeface="Times New Roman" panose="02020603050405020304" pitchFamily="18" charset="0"/>
              </a:rPr>
              <a:t>Assistant professor</a:t>
            </a: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lang="en-US" sz="2200" dirty="0">
                <a:solidFill>
                  <a:srgbClr val="943735"/>
                </a:solidFill>
                <a:latin typeface="Times New Roman" panose="02020603050405020304" pitchFamily="18" charset="0"/>
                <a:cs typeface="Times New Roman" panose="02020603050405020304" pitchFamily="18" charset="0"/>
              </a:rPr>
              <a:t> of </a:t>
            </a:r>
          </a:p>
          <a:p>
            <a:pPr marL="1270" algn="ctr">
              <a:lnSpc>
                <a:spcPct val="100000"/>
              </a:lnSpc>
              <a:spcBef>
                <a:spcPts val="994"/>
              </a:spcBef>
            </a:pPr>
            <a:r>
              <a:rPr lang="en-IN" sz="2200" dirty="0">
                <a:solidFill>
                  <a:srgbClr val="943735"/>
                </a:solidFill>
                <a:latin typeface="Times New Roman" panose="02020603050405020304" pitchFamily="18" charset="0"/>
                <a:cs typeface="Times New Roman" panose="02020603050405020304" pitchFamily="18" charset="0"/>
              </a:rPr>
              <a:t>Artificial Intelligence and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700000" y="1497893"/>
            <a:ext cx="4100000"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000" dirty="0">
                <a:latin typeface="Times New Roman" panose="02020603050405020304" pitchFamily="18" charset="0"/>
                <a:cs typeface="Times New Roman" panose="02020603050405020304" pitchFamily="18" charset="0"/>
              </a:rPr>
              <a:t>Abstract</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Finalize title, objectives &amp; problem statement</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Identify entities &amp; attributes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Design ER diagram &amp; relationships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Prepare relational database schema</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Define Primary &amp; Foreign Keys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Create GitHub repo &amp; responsibilities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Database creation &amp; constraints</a:t>
            </a:r>
          </a:p>
        </p:txBody>
      </p:sp>
      <p:sp>
        <p:nvSpPr>
          <p:cNvPr id="20" name="object 20"/>
          <p:cNvSpPr txBox="1"/>
          <p:nvPr/>
        </p:nvSpPr>
        <p:spPr>
          <a:xfrm>
            <a:off x="5100000" y="1497893"/>
            <a:ext cx="4100000"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startAt="9"/>
              <a:tabLst>
                <a:tab pos="389890" algn="l"/>
              </a:tabLst>
            </a:pPr>
            <a:r>
              <a:rPr lang="en-IN" sz="2000" dirty="0">
                <a:latin typeface="Times New Roman" panose="02020603050405020304" pitchFamily="18" charset="0"/>
                <a:cs typeface="Times New Roman" panose="02020603050405020304" pitchFamily="18" charset="0"/>
              </a:rPr>
              <a:t>Insert sample data</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DDL, DML &amp; DQL operations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CRUD operations &amp; SQL queries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 integrity &amp; validation</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Project documentation</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Demonstrate &amp; present database</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object 9"/>
          <p:cNvSpPr txBox="1">
            <a:spLocks noGrp="1"/>
          </p:cNvSpPr>
          <p:nvPr>
            <p:ph type="title"/>
          </p:nvPr>
        </p:nvSpPr>
        <p:spPr>
          <a:xfrm>
            <a:off x="4493425" y="299669"/>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8" name="TextBox 7">
            <a:extLst>
              <a:ext uri="{FF2B5EF4-FFF2-40B4-BE49-F238E27FC236}">
                <a16:creationId xmlns:a16="http://schemas.microsoft.com/office/drawing/2014/main" id="{7D6AD129-EA46-1094-EF66-5BDCDAD76ED1}"/>
              </a:ext>
            </a:extLst>
          </p:cNvPr>
          <p:cNvSpPr txBox="1"/>
          <p:nvPr/>
        </p:nvSpPr>
        <p:spPr>
          <a:xfrm>
            <a:off x="538432" y="1291297"/>
            <a:ext cx="9361040" cy="6001643"/>
          </a:xfrm>
          <a:prstGeom prst="rect">
            <a:avLst/>
          </a:prstGeom>
          <a:noFill/>
        </p:spPr>
        <p:txBody>
          <a:bodyPr wrap="square" rtlCol="0">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Hospital Management System is a DBMS-based application used to manage hospital records efficiently.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stores data about patients, doctors, departments, appointments, admissions, treatments, medicines, and bills.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relational database is used to store and organize hospital information systematically.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Primary keys and foreign keys are used to establish relationships between different tables.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SQL commands are used to insert, update, delete, and retrieve hospital data.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reduces manual paperwork, data duplication, and human errors.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system provides quick and easy access to patient and hospital records.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Database constraints help maintain data accuracy and consistency.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main objective is to provide a secure, organized, and user-friendly hospital management system using DBMS.</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A932079A-B15B-178D-8EB6-4E812EB4BA60}"/>
              </a:ext>
            </a:extLst>
          </p:cNvPr>
          <p:cNvGrpSpPr/>
          <p:nvPr/>
        </p:nvGrpSpPr>
        <p:grpSpPr>
          <a:xfrm>
            <a:off x="2652936" y="69776"/>
            <a:ext cx="5103904" cy="1401303"/>
            <a:chOff x="2648188" y="47148"/>
            <a:chExt cx="5103904" cy="1198311"/>
          </a:xfrm>
        </p:grpSpPr>
        <p:pic>
          <p:nvPicPr>
            <p:cNvPr id="4" name="object 4">
              <a:extLst>
                <a:ext uri="{FF2B5EF4-FFF2-40B4-BE49-F238E27FC236}">
                  <a16:creationId xmlns:a16="http://schemas.microsoft.com/office/drawing/2014/main" id="{51D8161E-58CC-E911-5B60-4A9405E19373}"/>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B0BAB2C5-935C-CCE7-E0E8-0C278E23E3CB}"/>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D8B224A4-0D08-BB89-99AB-E6B334BB27B6}"/>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BF75883-D7E9-5918-034A-B33CA583C31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8" name="TextBox 7">
            <a:extLst>
              <a:ext uri="{FF2B5EF4-FFF2-40B4-BE49-F238E27FC236}">
                <a16:creationId xmlns:a16="http://schemas.microsoft.com/office/drawing/2014/main" id="{7B4C5FDD-11B8-D4B1-EFD8-D9E46E0C0599}"/>
              </a:ext>
            </a:extLst>
          </p:cNvPr>
          <p:cNvSpPr txBox="1"/>
          <p:nvPr/>
        </p:nvSpPr>
        <p:spPr>
          <a:xfrm>
            <a:off x="4021088" y="324608"/>
            <a:ext cx="2701008"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INTRODUCTION</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556BAC1-9042-3A7A-B2E4-25482DD666B5}"/>
              </a:ext>
            </a:extLst>
          </p:cNvPr>
          <p:cNvSpPr txBox="1"/>
          <p:nvPr/>
        </p:nvSpPr>
        <p:spPr>
          <a:xfrm>
            <a:off x="492696" y="1353008"/>
            <a:ext cx="9073008" cy="6119945"/>
          </a:xfrm>
          <a:prstGeom prst="rect">
            <a:avLst/>
          </a:prstGeom>
          <a:noFill/>
        </p:spPr>
        <p:txBody>
          <a:bodyPr wrap="square" rtlCol="0">
            <a:spAutoFit/>
          </a:bodyPr>
          <a:lstStyle/>
          <a:p>
            <a:pPr>
              <a:lnSpc>
                <a:spcPct val="150000"/>
              </a:lnSpc>
            </a:pPr>
            <a:r>
              <a:rPr lang="en-IN" sz="2400" dirty="0">
                <a:latin typeface="Times New Roman" panose="02020603050405020304" pitchFamily="18" charset="0"/>
                <a:cs typeface="Times New Roman" panose="02020603050405020304" pitchFamily="18" charset="0"/>
              </a:rPr>
              <a:t>The Hospital Management System is a DBMS-based application developed to manage and organize the day-to-day activities of a hospital. It stores important information about patients, doctors, departments, appointments, admissions, treatments, medicines, and bills in a centralized database. Using a Database Management System (DBMS), hospital records can be added, updated, deleted, and retrieved easily. Primary keys and foreign keys are used to connect different tables and maintain relationships between the data. This system reduces manual paperwork, avoids data duplication, improves data accuracy, and saves time. The main aim of the project is to provide a simple, efficient, secure, and user-friendly system for managing hospital information.</a:t>
            </a:r>
          </a:p>
        </p:txBody>
      </p:sp>
      <p:pic>
        <p:nvPicPr>
          <p:cNvPr id="10" name="object 3">
            <a:extLst>
              <a:ext uri="{FF2B5EF4-FFF2-40B4-BE49-F238E27FC236}">
                <a16:creationId xmlns:a16="http://schemas.microsoft.com/office/drawing/2014/main" id="{AF162BF5-7CC4-2E54-3C2A-991400B9D655}"/>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0564438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F9BFD9-1405-3838-8CD8-00DF0BFCF0C5}"/>
              </a:ext>
            </a:extLst>
          </p:cNvPr>
          <p:cNvSpPr>
            <a:spLocks noGrp="1"/>
          </p:cNvSpPr>
          <p:nvPr>
            <p:ph sz="half" idx="2"/>
          </p:nvPr>
        </p:nvSpPr>
        <p:spPr>
          <a:xfrm>
            <a:off x="636712" y="1608487"/>
            <a:ext cx="8856984" cy="5473614"/>
          </a:xfrm>
        </p:spPr>
        <p:txBody>
          <a:bodyPr/>
          <a:lstStyle/>
          <a:p>
            <a:pPr>
              <a:lnSpc>
                <a:spcPct val="150000"/>
              </a:lnSpc>
            </a:pPr>
            <a:r>
              <a:rPr lang="en-IN" sz="2400" b="0" dirty="0">
                <a:latin typeface="Times New Roman" panose="02020603050405020304" pitchFamily="18" charset="0"/>
                <a:cs typeface="Times New Roman" panose="02020603050405020304" pitchFamily="18" charset="0"/>
              </a:rPr>
              <a:t>Managing hospital information manually can be time-consuming and may lead to errors, data duplication, and difficulty in retrieving records. Hospitals need to maintain large amounts of data related to patients, doctors, departments, appointments, admissions, treatments, medicines, and billing. When this information is stored using manual records, it becomes difficult to update, search, and maintain the data accurately. Therefore, there is a need for a DBMS-based Hospital Management System that can store and manage hospital data in a structured manner, reduce paperwork, maintain data consistency, and provide quick and easy access to accurate information.</a:t>
            </a:r>
          </a:p>
        </p:txBody>
      </p:sp>
      <p:grpSp>
        <p:nvGrpSpPr>
          <p:cNvPr id="13" name="object 3">
            <a:extLst>
              <a:ext uri="{FF2B5EF4-FFF2-40B4-BE49-F238E27FC236}">
                <a16:creationId xmlns:a16="http://schemas.microsoft.com/office/drawing/2014/main" id="{54239B69-EBE9-B45E-FB4F-A5DD0D7AD962}"/>
              </a:ext>
            </a:extLst>
          </p:cNvPr>
          <p:cNvGrpSpPr/>
          <p:nvPr/>
        </p:nvGrpSpPr>
        <p:grpSpPr>
          <a:xfrm>
            <a:off x="2561732" y="178228"/>
            <a:ext cx="5103904" cy="1198311"/>
            <a:chOff x="2648188" y="47148"/>
            <a:chExt cx="5103904" cy="1198311"/>
          </a:xfrm>
        </p:grpSpPr>
        <p:pic>
          <p:nvPicPr>
            <p:cNvPr id="14" name="object 4">
              <a:extLst>
                <a:ext uri="{FF2B5EF4-FFF2-40B4-BE49-F238E27FC236}">
                  <a16:creationId xmlns:a16="http://schemas.microsoft.com/office/drawing/2014/main" id="{435869CE-B2E2-C1D4-E8AF-FDA51158C5CE}"/>
                </a:ext>
              </a:extLst>
            </p:cNvPr>
            <p:cNvPicPr/>
            <p:nvPr/>
          </p:nvPicPr>
          <p:blipFill>
            <a:blip r:embed="rId2" cstate="print"/>
            <a:stretch>
              <a:fillRect/>
            </a:stretch>
          </p:blipFill>
          <p:spPr>
            <a:xfrm>
              <a:off x="2648188" y="47148"/>
              <a:ext cx="5103904" cy="1198311"/>
            </a:xfrm>
            <a:prstGeom prst="rect">
              <a:avLst/>
            </a:prstGeom>
          </p:spPr>
        </p:pic>
        <p:pic>
          <p:nvPicPr>
            <p:cNvPr id="15" name="object 5">
              <a:extLst>
                <a:ext uri="{FF2B5EF4-FFF2-40B4-BE49-F238E27FC236}">
                  <a16:creationId xmlns:a16="http://schemas.microsoft.com/office/drawing/2014/main" id="{B086B724-2959-8C27-4B17-7DA084C680EE}"/>
                </a:ext>
              </a:extLst>
            </p:cNvPr>
            <p:cNvPicPr/>
            <p:nvPr/>
          </p:nvPicPr>
          <p:blipFill>
            <a:blip r:embed="rId3" cstate="print"/>
            <a:stretch>
              <a:fillRect/>
            </a:stretch>
          </p:blipFill>
          <p:spPr>
            <a:xfrm>
              <a:off x="2703195" y="86439"/>
              <a:ext cx="4997767" cy="1092279"/>
            </a:xfrm>
            <a:prstGeom prst="rect">
              <a:avLst/>
            </a:prstGeom>
          </p:spPr>
        </p:pic>
        <p:pic>
          <p:nvPicPr>
            <p:cNvPr id="16" name="object 6">
              <a:extLst>
                <a:ext uri="{FF2B5EF4-FFF2-40B4-BE49-F238E27FC236}">
                  <a16:creationId xmlns:a16="http://schemas.microsoft.com/office/drawing/2014/main" id="{5CD2922E-0ED7-0F17-1E61-014DC0B05F40}"/>
                </a:ext>
              </a:extLst>
            </p:cNvPr>
            <p:cNvPicPr/>
            <p:nvPr/>
          </p:nvPicPr>
          <p:blipFill>
            <a:blip r:embed="rId4" cstate="print"/>
            <a:stretch>
              <a:fillRect/>
            </a:stretch>
          </p:blipFill>
          <p:spPr>
            <a:xfrm>
              <a:off x="2828925" y="243549"/>
              <a:ext cx="4585268" cy="522565"/>
            </a:xfrm>
            <a:prstGeom prst="rect">
              <a:avLst/>
            </a:prstGeom>
          </p:spPr>
        </p:pic>
        <p:sp>
          <p:nvSpPr>
            <p:cNvPr id="17" name="object 7">
              <a:extLst>
                <a:ext uri="{FF2B5EF4-FFF2-40B4-BE49-F238E27FC236}">
                  <a16:creationId xmlns:a16="http://schemas.microsoft.com/office/drawing/2014/main" id="{4C91A3F3-45DA-0827-3C26-2B8E80A9785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24" name="TextBox 23">
            <a:extLst>
              <a:ext uri="{FF2B5EF4-FFF2-40B4-BE49-F238E27FC236}">
                <a16:creationId xmlns:a16="http://schemas.microsoft.com/office/drawing/2014/main" id="{0BDAD717-A9C4-ABF3-1D9D-ACA36C012821}"/>
              </a:ext>
            </a:extLst>
          </p:cNvPr>
          <p:cNvSpPr txBox="1"/>
          <p:nvPr/>
        </p:nvSpPr>
        <p:spPr>
          <a:xfrm>
            <a:off x="3084984" y="400345"/>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PROBLEM STATEMENT</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26" name="object 3" descr="UNIVERSITY&#10;&#10;AI-generated content may be incorrect.">
            <a:extLst>
              <a:ext uri="{FF2B5EF4-FFF2-40B4-BE49-F238E27FC236}">
                <a16:creationId xmlns:a16="http://schemas.microsoft.com/office/drawing/2014/main" id="{C321E001-3CCC-80C0-6695-61ED1930E78A}"/>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0149615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A75AF-D5EA-5F08-465F-DCEFC2DC4866}"/>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0E0D0361-009A-9EA1-11DC-F1B198CBED0F}"/>
              </a:ext>
            </a:extLst>
          </p:cNvPr>
          <p:cNvGrpSpPr/>
          <p:nvPr/>
        </p:nvGrpSpPr>
        <p:grpSpPr>
          <a:xfrm>
            <a:off x="3012976" y="-17006"/>
            <a:ext cx="5103904" cy="1198311"/>
            <a:chOff x="2648188" y="47148"/>
            <a:chExt cx="5103904" cy="1198311"/>
          </a:xfrm>
        </p:grpSpPr>
        <p:pic>
          <p:nvPicPr>
            <p:cNvPr id="5" name="object 4">
              <a:extLst>
                <a:ext uri="{FF2B5EF4-FFF2-40B4-BE49-F238E27FC236}">
                  <a16:creationId xmlns:a16="http://schemas.microsoft.com/office/drawing/2014/main" id="{219624A7-8A18-E23E-D51F-2F516A526CDA}"/>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DC2B17BB-EFEC-63EC-A9A4-3663FE67EE25}"/>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EA972000-11CB-A894-4E32-5A7F2E1A85B2}"/>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FCBC6C9-6EB0-6146-DE74-484A1802F7D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A0A28B94-50CF-56EC-91AE-66EEE2ECCC2D}"/>
              </a:ext>
            </a:extLst>
          </p:cNvPr>
          <p:cNvSpPr txBox="1"/>
          <p:nvPr/>
        </p:nvSpPr>
        <p:spPr>
          <a:xfrm>
            <a:off x="4165104" y="174386"/>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 OBJECTIVES</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A03D6EA2-CFCE-1482-B2C6-EA1FFA5D4BC1}"/>
              </a:ext>
            </a:extLst>
          </p:cNvPr>
          <p:cNvPicPr/>
          <p:nvPr/>
        </p:nvPicPr>
        <p:blipFill>
          <a:blip r:embed="rId5" cstate="print"/>
          <a:stretch>
            <a:fillRect/>
          </a:stretch>
        </p:blipFill>
        <p:spPr>
          <a:xfrm>
            <a:off x="290750" y="204311"/>
            <a:ext cx="1163002" cy="424338"/>
          </a:xfrm>
          <a:prstGeom prst="rect">
            <a:avLst/>
          </a:prstGeom>
        </p:spPr>
      </p:pic>
      <p:sp>
        <p:nvSpPr>
          <p:cNvPr id="12" name="Content Placeholder 11">
            <a:extLst>
              <a:ext uri="{FF2B5EF4-FFF2-40B4-BE49-F238E27FC236}">
                <a16:creationId xmlns:a16="http://schemas.microsoft.com/office/drawing/2014/main" id="{C63CEB10-FFBB-F20C-DE0B-DFEF234FC751}"/>
              </a:ext>
            </a:extLst>
          </p:cNvPr>
          <p:cNvSpPr txBox="1">
            <a:spLocks noGrp="1"/>
          </p:cNvSpPr>
          <p:nvPr>
            <p:ph sz="half" idx="2"/>
          </p:nvPr>
        </p:nvSpPr>
        <p:spPr>
          <a:xfrm>
            <a:off x="708720" y="1010671"/>
            <a:ext cx="9134792" cy="6581610"/>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To store and manage hospital data in a centralized database. </a:t>
            </a:r>
          </a:p>
          <a:p>
            <a:pPr marL="342900" lvl="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To maintain records of patients, doctors, departments, appointments, admissions, treatments, medicines, and bills. </a:t>
            </a:r>
          </a:p>
          <a:p>
            <a:pPr marL="342900" lvl="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To reduce manual paperwork and data duplication. </a:t>
            </a:r>
          </a:p>
          <a:p>
            <a:pPr marL="342900" lvl="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To provide quick and easy access to hospital records. </a:t>
            </a:r>
          </a:p>
          <a:p>
            <a:pPr marL="342900" lvl="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To improve data accuracy and consistency using DBMS. </a:t>
            </a:r>
          </a:p>
          <a:p>
            <a:pPr marL="342900" lvl="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To establish relationships between different data using primary and foreign keys. </a:t>
            </a:r>
          </a:p>
          <a:p>
            <a:pPr marL="342900" lvl="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To make it easy to add, update, delete, and retrieve records. </a:t>
            </a:r>
          </a:p>
          <a:p>
            <a:pPr marL="342900" lvl="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To improve the efficiency of hospital operations. </a:t>
            </a:r>
          </a:p>
          <a:p>
            <a:pPr marL="342900" lvl="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To provide a secure and user-friendly system for managing hospital information.</a:t>
            </a:r>
          </a:p>
        </p:txBody>
      </p:sp>
    </p:spTree>
    <p:extLst>
      <p:ext uri="{BB962C8B-B14F-4D97-AF65-F5344CB8AC3E}">
        <p14:creationId xmlns:p14="http://schemas.microsoft.com/office/powerpoint/2010/main" val="22516239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87AC7-BDDA-7701-A2D9-B5BD3BB4ABC1}"/>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689CE5C9-2B2D-BBFF-A87D-7E2D89E8AE53}"/>
              </a:ext>
            </a:extLst>
          </p:cNvPr>
          <p:cNvGrpSpPr/>
          <p:nvPr/>
        </p:nvGrpSpPr>
        <p:grpSpPr>
          <a:xfrm>
            <a:off x="2724944" y="89378"/>
            <a:ext cx="5103904" cy="1198311"/>
            <a:chOff x="2648188" y="47148"/>
            <a:chExt cx="5103904" cy="1198311"/>
          </a:xfrm>
        </p:grpSpPr>
        <p:pic>
          <p:nvPicPr>
            <p:cNvPr id="5" name="object 4">
              <a:extLst>
                <a:ext uri="{FF2B5EF4-FFF2-40B4-BE49-F238E27FC236}">
                  <a16:creationId xmlns:a16="http://schemas.microsoft.com/office/drawing/2014/main" id="{31D6BFC4-501D-205D-9565-88217713EF36}"/>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A6389F09-26DE-6372-6A39-DD1A199B5463}"/>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0F4A24A8-DFB8-1229-F874-8EBC1A68CBD2}"/>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6D1C8C56-EE6F-4841-ACC9-4D951020E65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99EBA8FA-A2E9-1387-C46E-52C52B0048B3}"/>
              </a:ext>
            </a:extLst>
          </p:cNvPr>
          <p:cNvSpPr txBox="1"/>
          <p:nvPr/>
        </p:nvSpPr>
        <p:spPr>
          <a:xfrm>
            <a:off x="3156992" y="275451"/>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ENTITY AND ATTRIBUTES</a:t>
            </a:r>
          </a:p>
        </p:txBody>
      </p:sp>
      <p:pic>
        <p:nvPicPr>
          <p:cNvPr id="17" name="object 3">
            <a:extLst>
              <a:ext uri="{FF2B5EF4-FFF2-40B4-BE49-F238E27FC236}">
                <a16:creationId xmlns:a16="http://schemas.microsoft.com/office/drawing/2014/main" id="{AB2948ED-8829-2284-E87F-7A2B8EE77AEE}"/>
              </a:ext>
            </a:extLst>
          </p:cNvPr>
          <p:cNvPicPr/>
          <p:nvPr/>
        </p:nvPicPr>
        <p:blipFill>
          <a:blip r:embed="rId5" cstate="print"/>
          <a:stretch>
            <a:fillRect/>
          </a:stretch>
        </p:blipFill>
        <p:spPr>
          <a:xfrm>
            <a:off x="290750" y="204311"/>
            <a:ext cx="1163002" cy="424338"/>
          </a:xfrm>
          <a:prstGeom prst="rect">
            <a:avLst/>
          </a:prstGeom>
        </p:spPr>
      </p:pic>
      <p:graphicFrame>
        <p:nvGraphicFramePr>
          <p:cNvPr id="9" name="Table 8">
            <a:extLst>
              <a:ext uri="{FF2B5EF4-FFF2-40B4-BE49-F238E27FC236}">
                <a16:creationId xmlns:a16="http://schemas.microsoft.com/office/drawing/2014/main" id="{E245FC66-4C6F-F1CD-95F3-73AD63A71304}"/>
              </a:ext>
            </a:extLst>
          </p:cNvPr>
          <p:cNvGraphicFramePr>
            <a:graphicFrameLocks noGrp="1"/>
          </p:cNvGraphicFramePr>
          <p:nvPr>
            <p:extLst>
              <p:ext uri="{D42A27DB-BD31-4B8C-83A1-F6EECF244321}">
                <p14:modId xmlns:p14="http://schemas.microsoft.com/office/powerpoint/2010/main" val="1524519522"/>
              </p:ext>
            </p:extLst>
          </p:nvPr>
        </p:nvGraphicFramePr>
        <p:xfrm>
          <a:off x="1063535" y="995893"/>
          <a:ext cx="8269560" cy="6484259"/>
        </p:xfrm>
        <a:graphic>
          <a:graphicData uri="http://schemas.openxmlformats.org/drawingml/2006/table">
            <a:tbl>
              <a:tblPr>
                <a:tableStyleId>{69CF1AB2-1976-4502-BF36-3FF5EA218861}</a:tableStyleId>
              </a:tblPr>
              <a:tblGrid>
                <a:gridCol w="4201676">
                  <a:extLst>
                    <a:ext uri="{9D8B030D-6E8A-4147-A177-3AD203B41FA5}">
                      <a16:colId xmlns:a16="http://schemas.microsoft.com/office/drawing/2014/main" val="1801777172"/>
                    </a:ext>
                  </a:extLst>
                </a:gridCol>
                <a:gridCol w="4067884">
                  <a:extLst>
                    <a:ext uri="{9D8B030D-6E8A-4147-A177-3AD203B41FA5}">
                      <a16:colId xmlns:a16="http://schemas.microsoft.com/office/drawing/2014/main" val="351804580"/>
                    </a:ext>
                  </a:extLst>
                </a:gridCol>
              </a:tblGrid>
              <a:tr h="409769">
                <a:tc>
                  <a:txBody>
                    <a:bodyPr/>
                    <a:lstStyle/>
                    <a:p>
                      <a:pPr>
                        <a:buNone/>
                      </a:pPr>
                      <a:r>
                        <a:rPr lang="en-IN" b="1" dirty="0">
                          <a:latin typeface="Times New Roman" panose="02020603050405020304" pitchFamily="18" charset="0"/>
                          <a:cs typeface="Times New Roman" panose="02020603050405020304" pitchFamily="18" charset="0"/>
                        </a:rPr>
                        <a:t>Entity</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Attributes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74227863"/>
                  </a:ext>
                </a:extLst>
              </a:tr>
              <a:tr h="717096">
                <a:tc>
                  <a:txBody>
                    <a:bodyPr/>
                    <a:lstStyle/>
                    <a:p>
                      <a:pPr>
                        <a:buNone/>
                      </a:pPr>
                      <a:r>
                        <a:rPr lang="en-IN" b="0" dirty="0">
                          <a:latin typeface="Times New Roman" panose="02020603050405020304" pitchFamily="18" charset="0"/>
                          <a:cs typeface="Times New Roman" panose="02020603050405020304" pitchFamily="18" charset="0"/>
                        </a:rPr>
                        <a:t>Patient</a:t>
                      </a:r>
                    </a:p>
                  </a:txBody>
                  <a:tcPr anchor="ctr"/>
                </a:tc>
                <a:tc>
                  <a:txBody>
                    <a:bodyPr/>
                    <a:lstStyle/>
                    <a:p>
                      <a:pPr>
                        <a:buNone/>
                      </a:pPr>
                      <a:r>
                        <a:rPr lang="en-IN" dirty="0" err="1">
                          <a:latin typeface="Times New Roman" panose="02020603050405020304" pitchFamily="18" charset="0"/>
                          <a:cs typeface="Times New Roman" panose="02020603050405020304" pitchFamily="18" charset="0"/>
                        </a:rPr>
                        <a:t>Patient_ID</a:t>
                      </a:r>
                      <a:r>
                        <a:rPr lang="en-IN">
                          <a:latin typeface="Times New Roman" panose="02020603050405020304" pitchFamily="18" charset="0"/>
                          <a:cs typeface="Times New Roman" panose="02020603050405020304" pitchFamily="18" charset="0"/>
                        </a:rPr>
                        <a:t>, Name, Age, Gender, Phone, Address, Blood_Group</a:t>
                      </a:r>
                    </a:p>
                  </a:txBody>
                  <a:tcPr anchor="ctr"/>
                </a:tc>
                <a:extLst>
                  <a:ext uri="{0D108BD9-81ED-4DB2-BD59-A6C34878D82A}">
                    <a16:rowId xmlns:a16="http://schemas.microsoft.com/office/drawing/2014/main" val="1560767859"/>
                  </a:ext>
                </a:extLst>
              </a:tr>
              <a:tr h="717096">
                <a:tc>
                  <a:txBody>
                    <a:bodyPr/>
                    <a:lstStyle/>
                    <a:p>
                      <a:pPr>
                        <a:buNone/>
                      </a:pPr>
                      <a:r>
                        <a:rPr lang="en-IN" b="0" dirty="0">
                          <a:latin typeface="Times New Roman" panose="02020603050405020304" pitchFamily="18" charset="0"/>
                          <a:cs typeface="Times New Roman" panose="02020603050405020304" pitchFamily="18" charset="0"/>
                        </a:rPr>
                        <a:t>Doctor</a:t>
                      </a:r>
                    </a:p>
                  </a:txBody>
                  <a:tcPr anchor="ctr"/>
                </a:tc>
                <a:tc>
                  <a:txBody>
                    <a:bodyPr/>
                    <a:lstStyle/>
                    <a:p>
                      <a:pPr>
                        <a:buNone/>
                      </a:pPr>
                      <a:r>
                        <a:rPr lang="en-IN">
                          <a:latin typeface="Times New Roman" panose="02020603050405020304" pitchFamily="18" charset="0"/>
                          <a:cs typeface="Times New Roman" panose="02020603050405020304" pitchFamily="18" charset="0"/>
                        </a:rPr>
                        <a:t>Doctor_ID, Name, Specialization, Phone, Email, Department_ID</a:t>
                      </a:r>
                    </a:p>
                  </a:txBody>
                  <a:tcPr anchor="ctr"/>
                </a:tc>
                <a:extLst>
                  <a:ext uri="{0D108BD9-81ED-4DB2-BD59-A6C34878D82A}">
                    <a16:rowId xmlns:a16="http://schemas.microsoft.com/office/drawing/2014/main" val="3025237485"/>
                  </a:ext>
                </a:extLst>
              </a:tr>
              <a:tr h="648369">
                <a:tc>
                  <a:txBody>
                    <a:bodyPr/>
                    <a:lstStyle/>
                    <a:p>
                      <a:pPr>
                        <a:buNone/>
                      </a:pPr>
                      <a:r>
                        <a:rPr lang="en-IN" b="0" dirty="0">
                          <a:latin typeface="Times New Roman" panose="02020603050405020304" pitchFamily="18" charset="0"/>
                          <a:cs typeface="Times New Roman" panose="02020603050405020304" pitchFamily="18" charset="0"/>
                        </a:rPr>
                        <a:t>Department</a:t>
                      </a:r>
                    </a:p>
                  </a:txBody>
                  <a:tcPr anchor="ctr"/>
                </a:tc>
                <a:tc>
                  <a:txBody>
                    <a:bodyPr/>
                    <a:lstStyle/>
                    <a:p>
                      <a:pPr>
                        <a:buNone/>
                      </a:pPr>
                      <a:r>
                        <a:rPr lang="en-IN">
                          <a:latin typeface="Times New Roman" panose="02020603050405020304" pitchFamily="18" charset="0"/>
                          <a:cs typeface="Times New Roman" panose="02020603050405020304" pitchFamily="18" charset="0"/>
                        </a:rPr>
                        <a:t>Department_ID, Department_Name, Location</a:t>
                      </a:r>
                    </a:p>
                  </a:txBody>
                  <a:tcPr anchor="ctr"/>
                </a:tc>
                <a:extLst>
                  <a:ext uri="{0D108BD9-81ED-4DB2-BD59-A6C34878D82A}">
                    <a16:rowId xmlns:a16="http://schemas.microsoft.com/office/drawing/2014/main" val="2301769561"/>
                  </a:ext>
                </a:extLst>
              </a:tr>
              <a:tr h="926241">
                <a:tc>
                  <a:txBody>
                    <a:bodyPr/>
                    <a:lstStyle/>
                    <a:p>
                      <a:pPr>
                        <a:buNone/>
                      </a:pPr>
                      <a:r>
                        <a:rPr lang="en-IN" b="0" dirty="0">
                          <a:latin typeface="Times New Roman" panose="02020603050405020304" pitchFamily="18" charset="0"/>
                          <a:cs typeface="Times New Roman" panose="02020603050405020304" pitchFamily="18" charset="0"/>
                        </a:rPr>
                        <a:t>Appointment</a:t>
                      </a:r>
                    </a:p>
                  </a:txBody>
                  <a:tcPr anchor="ctr"/>
                </a:tc>
                <a:tc>
                  <a:txBody>
                    <a:bodyPr/>
                    <a:lstStyle/>
                    <a:p>
                      <a:pPr>
                        <a:buNone/>
                      </a:pPr>
                      <a:r>
                        <a:rPr lang="en-IN">
                          <a:latin typeface="Times New Roman" panose="02020603050405020304" pitchFamily="18" charset="0"/>
                          <a:cs typeface="Times New Roman" panose="02020603050405020304" pitchFamily="18" charset="0"/>
                        </a:rPr>
                        <a:t>Appointment_ID, Patient_ID, Doctor_ID, Appointment_Date, Appointment_Time, Status</a:t>
                      </a:r>
                    </a:p>
                  </a:txBody>
                  <a:tcPr anchor="ctr"/>
                </a:tc>
                <a:extLst>
                  <a:ext uri="{0D108BD9-81ED-4DB2-BD59-A6C34878D82A}">
                    <a16:rowId xmlns:a16="http://schemas.microsoft.com/office/drawing/2014/main" val="2832661216"/>
                  </a:ext>
                </a:extLst>
              </a:tr>
              <a:tr h="717096">
                <a:tc>
                  <a:txBody>
                    <a:bodyPr/>
                    <a:lstStyle/>
                    <a:p>
                      <a:pPr>
                        <a:buNone/>
                      </a:pPr>
                      <a:r>
                        <a:rPr lang="en-IN" b="0" dirty="0">
                          <a:latin typeface="Times New Roman" panose="02020603050405020304" pitchFamily="18" charset="0"/>
                          <a:cs typeface="Times New Roman" panose="02020603050405020304" pitchFamily="18" charset="0"/>
                        </a:rPr>
                        <a:t>Admission</a:t>
                      </a:r>
                    </a:p>
                  </a:txBody>
                  <a:tcPr anchor="ctr"/>
                </a:tc>
                <a:tc>
                  <a:txBody>
                    <a:bodyPr/>
                    <a:lstStyle/>
                    <a:p>
                      <a:pPr>
                        <a:buNone/>
                      </a:pPr>
                      <a:r>
                        <a:rPr lang="en-IN">
                          <a:latin typeface="Times New Roman" panose="02020603050405020304" pitchFamily="18" charset="0"/>
                          <a:cs typeface="Times New Roman" panose="02020603050405020304" pitchFamily="18" charset="0"/>
                        </a:rPr>
                        <a:t>Admission_ID, Patient_ID, Room_No, Admission_Date, Discharge_Date</a:t>
                      </a:r>
                    </a:p>
                  </a:txBody>
                  <a:tcPr anchor="ctr"/>
                </a:tc>
                <a:extLst>
                  <a:ext uri="{0D108BD9-81ED-4DB2-BD59-A6C34878D82A}">
                    <a16:rowId xmlns:a16="http://schemas.microsoft.com/office/drawing/2014/main" val="2467885257"/>
                  </a:ext>
                </a:extLst>
              </a:tr>
              <a:tr h="717096">
                <a:tc>
                  <a:txBody>
                    <a:bodyPr/>
                    <a:lstStyle/>
                    <a:p>
                      <a:pPr>
                        <a:buNone/>
                      </a:pPr>
                      <a:r>
                        <a:rPr lang="en-IN" b="0" dirty="0">
                          <a:latin typeface="Times New Roman" panose="02020603050405020304" pitchFamily="18" charset="0"/>
                          <a:cs typeface="Times New Roman" panose="02020603050405020304" pitchFamily="18" charset="0"/>
                        </a:rPr>
                        <a:t>Treatment</a:t>
                      </a:r>
                    </a:p>
                  </a:txBody>
                  <a:tcPr anchor="ctr"/>
                </a:tc>
                <a:tc>
                  <a:txBody>
                    <a:bodyPr/>
                    <a:lstStyle/>
                    <a:p>
                      <a:pPr>
                        <a:buNone/>
                      </a:pPr>
                      <a:r>
                        <a:rPr lang="en-IN">
                          <a:latin typeface="Times New Roman" panose="02020603050405020304" pitchFamily="18" charset="0"/>
                          <a:cs typeface="Times New Roman" panose="02020603050405020304" pitchFamily="18" charset="0"/>
                        </a:rPr>
                        <a:t>Treatment_ID, Patient_ID, Doctor_ID, Diagnosis, Treatment_Date, Description</a:t>
                      </a:r>
                    </a:p>
                  </a:txBody>
                  <a:tcPr anchor="ctr"/>
                </a:tc>
                <a:extLst>
                  <a:ext uri="{0D108BD9-81ED-4DB2-BD59-A6C34878D82A}">
                    <a16:rowId xmlns:a16="http://schemas.microsoft.com/office/drawing/2014/main" val="1741636736"/>
                  </a:ext>
                </a:extLst>
              </a:tr>
              <a:tr h="717096">
                <a:tc>
                  <a:txBody>
                    <a:bodyPr/>
                    <a:lstStyle/>
                    <a:p>
                      <a:pPr>
                        <a:buNone/>
                      </a:pPr>
                      <a:r>
                        <a:rPr lang="en-IN" b="0" dirty="0">
                          <a:latin typeface="Times New Roman" panose="02020603050405020304" pitchFamily="18" charset="0"/>
                          <a:cs typeface="Times New Roman" panose="02020603050405020304" pitchFamily="18" charset="0"/>
                        </a:rPr>
                        <a:t>Medicine</a:t>
                      </a:r>
                    </a:p>
                  </a:txBody>
                  <a:tcPr anchor="ctr"/>
                </a:tc>
                <a:tc>
                  <a:txBody>
                    <a:bodyPr/>
                    <a:lstStyle/>
                    <a:p>
                      <a:pPr>
                        <a:buNone/>
                      </a:pPr>
                      <a:r>
                        <a:rPr lang="en-IN">
                          <a:latin typeface="Times New Roman" panose="02020603050405020304" pitchFamily="18" charset="0"/>
                          <a:cs typeface="Times New Roman" panose="02020603050405020304" pitchFamily="18" charset="0"/>
                        </a:rPr>
                        <a:t>Medicine_ID, Medicine_Name, Quantity, Price</a:t>
                      </a:r>
                    </a:p>
                  </a:txBody>
                  <a:tcPr anchor="ctr"/>
                </a:tc>
                <a:extLst>
                  <a:ext uri="{0D108BD9-81ED-4DB2-BD59-A6C34878D82A}">
                    <a16:rowId xmlns:a16="http://schemas.microsoft.com/office/drawing/2014/main" val="2379891461"/>
                  </a:ext>
                </a:extLst>
              </a:tr>
              <a:tr h="717096">
                <a:tc>
                  <a:txBody>
                    <a:bodyPr/>
                    <a:lstStyle/>
                    <a:p>
                      <a:pPr>
                        <a:buNone/>
                      </a:pPr>
                      <a:r>
                        <a:rPr lang="en-IN" b="0" dirty="0">
                          <a:latin typeface="Times New Roman" panose="02020603050405020304" pitchFamily="18" charset="0"/>
                          <a:cs typeface="Times New Roman" panose="02020603050405020304" pitchFamily="18" charset="0"/>
                        </a:rPr>
                        <a:t>Bill</a:t>
                      </a:r>
                    </a:p>
                  </a:txBody>
                  <a:tcPr anchor="ctr"/>
                </a:tc>
                <a:tc>
                  <a:txBody>
                    <a:bodyPr/>
                    <a:lstStyle/>
                    <a:p>
                      <a:pPr>
                        <a:buNone/>
                      </a:pPr>
                      <a:r>
                        <a:rPr lang="en-IN" dirty="0" err="1">
                          <a:latin typeface="Times New Roman" panose="02020603050405020304" pitchFamily="18" charset="0"/>
                          <a:cs typeface="Times New Roman" panose="02020603050405020304" pitchFamily="18" charset="0"/>
                        </a:rPr>
                        <a:t>Bill_ID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Bill_Date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Treatment_Charge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Medicine_Charge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Total_Amount</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05304322"/>
                  </a:ext>
                </a:extLst>
              </a:tr>
            </a:tbl>
          </a:graphicData>
        </a:graphic>
      </p:graphicFrame>
    </p:spTree>
    <p:extLst>
      <p:ext uri="{BB962C8B-B14F-4D97-AF65-F5344CB8AC3E}">
        <p14:creationId xmlns:p14="http://schemas.microsoft.com/office/powerpoint/2010/main" val="26205461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5BECE-CC3C-4C79-B879-11DE0CF13CF2}"/>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318F5FBE-0FBE-C2FC-C39F-440C966A61A3}"/>
              </a:ext>
            </a:extLst>
          </p:cNvPr>
          <p:cNvGrpSpPr/>
          <p:nvPr/>
        </p:nvGrpSpPr>
        <p:grpSpPr>
          <a:xfrm>
            <a:off x="2724944" y="89378"/>
            <a:ext cx="5103904" cy="1198311"/>
            <a:chOff x="2648188" y="47148"/>
            <a:chExt cx="5103904" cy="1198311"/>
          </a:xfrm>
        </p:grpSpPr>
        <p:pic>
          <p:nvPicPr>
            <p:cNvPr id="5" name="object 4">
              <a:extLst>
                <a:ext uri="{FF2B5EF4-FFF2-40B4-BE49-F238E27FC236}">
                  <a16:creationId xmlns:a16="http://schemas.microsoft.com/office/drawing/2014/main" id="{6B425B69-6F54-BBF6-98D4-8869C75294FA}"/>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59E9ABD-1167-D1EC-9331-C17E89926F94}"/>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EF86167-5A4D-7AF0-60F3-72D8521619AD}"/>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8AA515F3-8027-3F97-C535-D06394C9A15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br>
                <a:rPr lang="en-IN" dirty="0"/>
              </a:br>
              <a:endParaRPr dirty="0"/>
            </a:p>
          </p:txBody>
        </p:sp>
      </p:grpSp>
      <p:pic>
        <p:nvPicPr>
          <p:cNvPr id="17" name="object 3">
            <a:extLst>
              <a:ext uri="{FF2B5EF4-FFF2-40B4-BE49-F238E27FC236}">
                <a16:creationId xmlns:a16="http://schemas.microsoft.com/office/drawing/2014/main" id="{53ED16BA-C08A-ED22-648F-AC91FA16447D}"/>
              </a:ext>
            </a:extLst>
          </p:cNvPr>
          <p:cNvPicPr/>
          <p:nvPr/>
        </p:nvPicPr>
        <p:blipFill>
          <a:blip r:embed="rId5" cstate="print"/>
          <a:stretch>
            <a:fillRect/>
          </a:stretch>
        </p:blipFill>
        <p:spPr>
          <a:xfrm>
            <a:off x="290750" y="204311"/>
            <a:ext cx="1163002" cy="424338"/>
          </a:xfrm>
          <a:prstGeom prst="rect">
            <a:avLst/>
          </a:prstGeom>
        </p:spPr>
      </p:pic>
      <p:sp>
        <p:nvSpPr>
          <p:cNvPr id="10" name="TextBox 9">
            <a:extLst>
              <a:ext uri="{FF2B5EF4-FFF2-40B4-BE49-F238E27FC236}">
                <a16:creationId xmlns:a16="http://schemas.microsoft.com/office/drawing/2014/main" id="{D5B7A9C6-2919-7132-5433-E0B85D383192}"/>
              </a:ext>
            </a:extLst>
          </p:cNvPr>
          <p:cNvSpPr txBox="1"/>
          <p:nvPr/>
        </p:nvSpPr>
        <p:spPr>
          <a:xfrm>
            <a:off x="4163223" y="285779"/>
            <a:ext cx="2857500"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ER-DIAGRAM</a:t>
            </a:r>
          </a:p>
        </p:txBody>
      </p:sp>
      <p:pic>
        <p:nvPicPr>
          <p:cNvPr id="9" name="Picture 8">
            <a:extLst>
              <a:ext uri="{FF2B5EF4-FFF2-40B4-BE49-F238E27FC236}">
                <a16:creationId xmlns:a16="http://schemas.microsoft.com/office/drawing/2014/main" id="{246A1126-1D3D-2645-3A48-BEBF9BFFB4F4}"/>
              </a:ext>
            </a:extLst>
          </p:cNvPr>
          <p:cNvPicPr>
            <a:picLocks noChangeAspect="1"/>
          </p:cNvPicPr>
          <p:nvPr/>
        </p:nvPicPr>
        <p:blipFill>
          <a:blip r:embed="rId6"/>
          <a:stretch>
            <a:fillRect/>
          </a:stretch>
        </p:blipFill>
        <p:spPr>
          <a:xfrm>
            <a:off x="636712" y="965454"/>
            <a:ext cx="9145016" cy="6233114"/>
          </a:xfrm>
          <a:prstGeom prst="rect">
            <a:avLst/>
          </a:prstGeom>
        </p:spPr>
      </p:pic>
    </p:spTree>
    <p:extLst>
      <p:ext uri="{BB962C8B-B14F-4D97-AF65-F5344CB8AC3E}">
        <p14:creationId xmlns:p14="http://schemas.microsoft.com/office/powerpoint/2010/main" val="24737246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9799E-8879-1896-F4D6-975EC6AC468E}"/>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13E3C9B4-9B65-A8D7-C622-C7EBED54B4B0}"/>
              </a:ext>
            </a:extLst>
          </p:cNvPr>
          <p:cNvGrpSpPr/>
          <p:nvPr/>
        </p:nvGrpSpPr>
        <p:grpSpPr>
          <a:xfrm>
            <a:off x="2724944" y="89378"/>
            <a:ext cx="5103904" cy="1198311"/>
            <a:chOff x="2648188" y="47148"/>
            <a:chExt cx="5103904" cy="1198311"/>
          </a:xfrm>
        </p:grpSpPr>
        <p:pic>
          <p:nvPicPr>
            <p:cNvPr id="5" name="object 4">
              <a:extLst>
                <a:ext uri="{FF2B5EF4-FFF2-40B4-BE49-F238E27FC236}">
                  <a16:creationId xmlns:a16="http://schemas.microsoft.com/office/drawing/2014/main" id="{C07837F7-7561-ED18-9FA4-C0B8159E611C}"/>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3C636A1A-FC4E-1DBF-B385-C8A978018D3C}"/>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A015625-CDE8-AA33-B65D-0306D3548C0F}"/>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D3369B36-342D-334D-8B53-29AB8519407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br>
                <a:rPr lang="en-IN" dirty="0"/>
              </a:br>
              <a:endParaRPr dirty="0"/>
            </a:p>
          </p:txBody>
        </p:sp>
      </p:grpSp>
      <p:pic>
        <p:nvPicPr>
          <p:cNvPr id="17" name="object 3">
            <a:extLst>
              <a:ext uri="{FF2B5EF4-FFF2-40B4-BE49-F238E27FC236}">
                <a16:creationId xmlns:a16="http://schemas.microsoft.com/office/drawing/2014/main" id="{4569E813-590A-313D-F6DE-2ABAC3DB12EB}"/>
              </a:ext>
            </a:extLst>
          </p:cNvPr>
          <p:cNvPicPr/>
          <p:nvPr/>
        </p:nvPicPr>
        <p:blipFill>
          <a:blip r:embed="rId6" cstate="print"/>
          <a:stretch>
            <a:fillRect/>
          </a:stretch>
        </p:blipFill>
        <p:spPr>
          <a:xfrm>
            <a:off x="290750" y="204311"/>
            <a:ext cx="1163002" cy="424338"/>
          </a:xfrm>
          <a:prstGeom prst="rect">
            <a:avLst/>
          </a:prstGeom>
        </p:spPr>
      </p:pic>
      <p:sp>
        <p:nvSpPr>
          <p:cNvPr id="9" name="TextBox 8">
            <a:extLst>
              <a:ext uri="{FF2B5EF4-FFF2-40B4-BE49-F238E27FC236}">
                <a16:creationId xmlns:a16="http://schemas.microsoft.com/office/drawing/2014/main" id="{A29B486D-3DF8-2CFC-7D03-3090089B5A39}"/>
              </a:ext>
            </a:extLst>
          </p:cNvPr>
          <p:cNvSpPr txBox="1"/>
          <p:nvPr/>
        </p:nvSpPr>
        <p:spPr>
          <a:xfrm>
            <a:off x="3368684" y="287516"/>
            <a:ext cx="3816424"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RELATIONAL SCHEMA</a:t>
            </a:r>
          </a:p>
        </p:txBody>
      </p:sp>
      <p:sp>
        <p:nvSpPr>
          <p:cNvPr id="18" name="TextBox 17">
            <a:extLst>
              <a:ext uri="{FF2B5EF4-FFF2-40B4-BE49-F238E27FC236}">
                <a16:creationId xmlns:a16="http://schemas.microsoft.com/office/drawing/2014/main" id="{36EABE8B-7D97-7D78-897B-AF28218287C7}"/>
              </a:ext>
            </a:extLst>
          </p:cNvPr>
          <p:cNvSpPr txBox="1"/>
          <p:nvPr/>
        </p:nvSpPr>
        <p:spPr>
          <a:xfrm>
            <a:off x="1036456" y="840973"/>
            <a:ext cx="3101569" cy="7201972"/>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PATIENT(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Patient_ID</a:t>
            </a:r>
            <a:r>
              <a:rPr lang="en-US" sz="1400" dirty="0">
                <a:latin typeface="Times New Roman" panose="02020603050405020304" pitchFamily="18" charset="0"/>
                <a:cs typeface="Times New Roman" panose="02020603050405020304" pitchFamily="18" charset="0"/>
              </a:rPr>
              <a:t> PRIMARY KEY,</a:t>
            </a:r>
          </a:p>
          <a:p>
            <a:r>
              <a:rPr lang="en-US" sz="1400" dirty="0">
                <a:latin typeface="Times New Roman" panose="02020603050405020304" pitchFamily="18" charset="0"/>
                <a:cs typeface="Times New Roman" panose="02020603050405020304" pitchFamily="18" charset="0"/>
              </a:rPr>
              <a:t>    Name,</a:t>
            </a:r>
          </a:p>
          <a:p>
            <a:r>
              <a:rPr lang="en-US" sz="1400" dirty="0">
                <a:latin typeface="Times New Roman" panose="02020603050405020304" pitchFamily="18" charset="0"/>
                <a:cs typeface="Times New Roman" panose="02020603050405020304" pitchFamily="18" charset="0"/>
              </a:rPr>
              <a:t>    Age,</a:t>
            </a:r>
          </a:p>
          <a:p>
            <a:r>
              <a:rPr lang="en-US" sz="1400" dirty="0">
                <a:latin typeface="Times New Roman" panose="02020603050405020304" pitchFamily="18" charset="0"/>
                <a:cs typeface="Times New Roman" panose="02020603050405020304" pitchFamily="18" charset="0"/>
              </a:rPr>
              <a:t>    Gender,</a:t>
            </a:r>
          </a:p>
          <a:p>
            <a:r>
              <a:rPr lang="en-US" sz="1400" dirty="0">
                <a:latin typeface="Times New Roman" panose="02020603050405020304" pitchFamily="18" charset="0"/>
                <a:cs typeface="Times New Roman" panose="02020603050405020304" pitchFamily="18" charset="0"/>
              </a:rPr>
              <a:t>    Phone,</a:t>
            </a:r>
          </a:p>
          <a:p>
            <a:r>
              <a:rPr lang="en-US" sz="1400" dirty="0">
                <a:latin typeface="Times New Roman" panose="02020603050405020304" pitchFamily="18" charset="0"/>
                <a:cs typeface="Times New Roman" panose="02020603050405020304" pitchFamily="18" charset="0"/>
              </a:rPr>
              <a:t>    Address,</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Blood_Group</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DOCTOR(</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Doctor_ID</a:t>
            </a:r>
            <a:r>
              <a:rPr lang="en-US" sz="1400" dirty="0">
                <a:latin typeface="Times New Roman" panose="02020603050405020304" pitchFamily="18" charset="0"/>
                <a:cs typeface="Times New Roman" panose="02020603050405020304" pitchFamily="18" charset="0"/>
              </a:rPr>
              <a:t> PRIMARY KEY,</a:t>
            </a:r>
          </a:p>
          <a:p>
            <a:r>
              <a:rPr lang="en-US" sz="1400" dirty="0">
                <a:latin typeface="Times New Roman" panose="02020603050405020304" pitchFamily="18" charset="0"/>
                <a:cs typeface="Times New Roman" panose="02020603050405020304" pitchFamily="18" charset="0"/>
              </a:rPr>
              <a:t>    Name,</a:t>
            </a:r>
          </a:p>
          <a:p>
            <a:r>
              <a:rPr lang="en-US" sz="1400" dirty="0">
                <a:latin typeface="Times New Roman" panose="02020603050405020304" pitchFamily="18" charset="0"/>
                <a:cs typeface="Times New Roman" panose="02020603050405020304" pitchFamily="18" charset="0"/>
              </a:rPr>
              <a:t>    Specialization,</a:t>
            </a:r>
          </a:p>
          <a:p>
            <a:r>
              <a:rPr lang="en-US" sz="1400" dirty="0">
                <a:latin typeface="Times New Roman" panose="02020603050405020304" pitchFamily="18" charset="0"/>
                <a:cs typeface="Times New Roman" panose="02020603050405020304" pitchFamily="18" charset="0"/>
              </a:rPr>
              <a:t>    Phone,</a:t>
            </a:r>
          </a:p>
          <a:p>
            <a:r>
              <a:rPr lang="en-US" sz="1400" dirty="0">
                <a:latin typeface="Times New Roman" panose="02020603050405020304" pitchFamily="18" charset="0"/>
                <a:cs typeface="Times New Roman" panose="02020603050405020304" pitchFamily="18" charset="0"/>
              </a:rPr>
              <a:t>    Email,</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Department_ID</a:t>
            </a:r>
            <a:r>
              <a:rPr lang="en-US" sz="1400" dirty="0">
                <a:latin typeface="Times New Roman" panose="02020603050405020304" pitchFamily="18" charset="0"/>
                <a:cs typeface="Times New Roman" panose="02020603050405020304" pitchFamily="18" charset="0"/>
              </a:rPr>
              <a:t> FOREIGN KEY</a:t>
            </a:r>
          </a:p>
          <a:p>
            <a:r>
              <a:rPr lang="en-US" sz="1400"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DEPARTMENT(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Department_ID</a:t>
            </a:r>
            <a:r>
              <a:rPr lang="en-US" sz="1400" dirty="0">
                <a:latin typeface="Times New Roman" panose="02020603050405020304" pitchFamily="18" charset="0"/>
                <a:cs typeface="Times New Roman" panose="02020603050405020304" pitchFamily="18" charset="0"/>
              </a:rPr>
              <a:t> PRIMARY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Department_Name</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Location</a:t>
            </a:r>
          </a:p>
          <a:p>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APPOINTMENT(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Appointment_ID</a:t>
            </a:r>
            <a:r>
              <a:rPr lang="en-US" sz="1400" dirty="0">
                <a:latin typeface="Times New Roman" panose="02020603050405020304" pitchFamily="18" charset="0"/>
                <a:cs typeface="Times New Roman" panose="02020603050405020304" pitchFamily="18" charset="0"/>
              </a:rPr>
              <a:t> PRIMARY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Patient_ID</a:t>
            </a:r>
            <a:r>
              <a:rPr lang="en-US" sz="1400" dirty="0">
                <a:latin typeface="Times New Roman" panose="02020603050405020304" pitchFamily="18" charset="0"/>
                <a:cs typeface="Times New Roman" panose="02020603050405020304" pitchFamily="18" charset="0"/>
              </a:rPr>
              <a:t> FOREIGN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Doctor_ID</a:t>
            </a:r>
            <a:r>
              <a:rPr lang="en-US" sz="1400" dirty="0">
                <a:latin typeface="Times New Roman" panose="02020603050405020304" pitchFamily="18" charset="0"/>
                <a:cs typeface="Times New Roman" panose="02020603050405020304" pitchFamily="18" charset="0"/>
              </a:rPr>
              <a:t> FOREIGN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Appointment_Date</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Appointment_Time</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Status</a:t>
            </a:r>
          </a:p>
          <a:p>
            <a:r>
              <a:rPr lang="en-US" sz="1400"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83FD0C06-ACB5-790C-3243-B67A6DEC89FF}"/>
              </a:ext>
            </a:extLst>
          </p:cNvPr>
          <p:cNvSpPr txBox="1"/>
          <p:nvPr/>
        </p:nvSpPr>
        <p:spPr>
          <a:xfrm>
            <a:off x="5276896" y="956677"/>
            <a:ext cx="2744662" cy="7201972"/>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ADMISSION(</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Admission_ID</a:t>
            </a:r>
            <a:r>
              <a:rPr lang="en-US" sz="1400" dirty="0">
                <a:latin typeface="Times New Roman" panose="02020603050405020304" pitchFamily="18" charset="0"/>
                <a:cs typeface="Times New Roman" panose="02020603050405020304" pitchFamily="18" charset="0"/>
              </a:rPr>
              <a:t> PRIMARY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Patient_ID</a:t>
            </a:r>
            <a:r>
              <a:rPr lang="en-US" sz="1400" dirty="0">
                <a:latin typeface="Times New Roman" panose="02020603050405020304" pitchFamily="18" charset="0"/>
                <a:cs typeface="Times New Roman" panose="02020603050405020304" pitchFamily="18" charset="0"/>
              </a:rPr>
              <a:t> FOREIGN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Room_No</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Admission_Date</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Discharge_Date</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TREATMENT(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Treatment_ID</a:t>
            </a:r>
            <a:r>
              <a:rPr lang="en-US" sz="1400" dirty="0">
                <a:latin typeface="Times New Roman" panose="02020603050405020304" pitchFamily="18" charset="0"/>
                <a:cs typeface="Times New Roman" panose="02020603050405020304" pitchFamily="18" charset="0"/>
              </a:rPr>
              <a:t> PRIMARY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Patient_ID</a:t>
            </a:r>
            <a:r>
              <a:rPr lang="en-US" sz="1400" dirty="0">
                <a:latin typeface="Times New Roman" panose="02020603050405020304" pitchFamily="18" charset="0"/>
                <a:cs typeface="Times New Roman" panose="02020603050405020304" pitchFamily="18" charset="0"/>
              </a:rPr>
              <a:t> FOREIGN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Doctor_ID</a:t>
            </a:r>
            <a:r>
              <a:rPr lang="en-US" sz="1400" dirty="0">
                <a:latin typeface="Times New Roman" panose="02020603050405020304" pitchFamily="18" charset="0"/>
                <a:cs typeface="Times New Roman" panose="02020603050405020304" pitchFamily="18" charset="0"/>
              </a:rPr>
              <a:t> FOREIGN KEY,</a:t>
            </a:r>
          </a:p>
          <a:p>
            <a:r>
              <a:rPr lang="en-US" sz="1400" dirty="0">
                <a:latin typeface="Times New Roman" panose="02020603050405020304" pitchFamily="18" charset="0"/>
                <a:cs typeface="Times New Roman" panose="02020603050405020304" pitchFamily="18" charset="0"/>
              </a:rPr>
              <a:t>    Diagnosis,</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Treatment_Date</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Description</a:t>
            </a:r>
          </a:p>
          <a:p>
            <a:r>
              <a:rPr lang="en-US" sz="1400"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MEDICINE(</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Medicine_ID</a:t>
            </a:r>
            <a:r>
              <a:rPr lang="en-US" sz="1400" dirty="0">
                <a:latin typeface="Times New Roman" panose="02020603050405020304" pitchFamily="18" charset="0"/>
                <a:cs typeface="Times New Roman" panose="02020603050405020304" pitchFamily="18" charset="0"/>
              </a:rPr>
              <a:t> PRIMARY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Medicine_Name</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Quantity,</a:t>
            </a:r>
          </a:p>
          <a:p>
            <a:r>
              <a:rPr lang="en-US" sz="1400" dirty="0">
                <a:latin typeface="Times New Roman" panose="02020603050405020304" pitchFamily="18" charset="0"/>
                <a:cs typeface="Times New Roman" panose="02020603050405020304" pitchFamily="18" charset="0"/>
              </a:rPr>
              <a:t>    Price</a:t>
            </a:r>
          </a:p>
          <a:p>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BILL(</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Bill_ID</a:t>
            </a:r>
            <a:r>
              <a:rPr lang="en-US" sz="1400" dirty="0">
                <a:latin typeface="Times New Roman" panose="02020603050405020304" pitchFamily="18" charset="0"/>
                <a:cs typeface="Times New Roman" panose="02020603050405020304" pitchFamily="18" charset="0"/>
              </a:rPr>
              <a:t> PRIMARY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Patient_ID</a:t>
            </a:r>
            <a:r>
              <a:rPr lang="en-US" sz="1400" dirty="0">
                <a:latin typeface="Times New Roman" panose="02020603050405020304" pitchFamily="18" charset="0"/>
                <a:cs typeface="Times New Roman" panose="02020603050405020304" pitchFamily="18" charset="0"/>
              </a:rPr>
              <a:t> FOREIGN KEY,</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Bill_Date</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Treatment_Charge</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Medicine_Charge</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Total_Amount</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a:p>
            <a:endParaRPr lang="en-IN" sz="1400" dirty="0"/>
          </a:p>
        </p:txBody>
      </p:sp>
    </p:spTree>
    <p:extLst>
      <p:ext uri="{BB962C8B-B14F-4D97-AF65-F5344CB8AC3E}">
        <p14:creationId xmlns:p14="http://schemas.microsoft.com/office/powerpoint/2010/main" val="7131542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1103-BED3-D0D1-2B32-DF462A49AD9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86A48A0-7630-F33A-9602-55A8C30FABC0}"/>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4D87CA1E-4756-F08E-63BD-75124D6360A1}"/>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631FFF4E-3585-C131-4111-19552BFBD0ED}"/>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23462C3B-779A-ECC8-E6A0-EBE10897D9C8}"/>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485986-3706-6533-B03D-5A8A8566EDEA}"/>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C06018CA-58C0-7E2C-3046-85D5E75FDF5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48EE4812-0FE8-8F6E-37C0-C1D8649E38B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C996B418-1692-861F-B2FC-D97A6A0DCECA}"/>
              </a:ext>
            </a:extLst>
          </p:cNvPr>
          <p:cNvSpPr txBox="1"/>
          <p:nvPr/>
        </p:nvSpPr>
        <p:spPr>
          <a:xfrm>
            <a:off x="2963382" y="281409"/>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PRIMARY</a:t>
            </a:r>
            <a:r>
              <a:rPr lang="en-IN" sz="2400" b="1" dirty="0"/>
              <a:t> </a:t>
            </a:r>
            <a:r>
              <a:rPr lang="en-IN" sz="2400" b="1" dirty="0">
                <a:solidFill>
                  <a:schemeClr val="bg1"/>
                </a:solidFill>
                <a:latin typeface="Times New Roman" panose="02020603050405020304" pitchFamily="18" charset="0"/>
                <a:cs typeface="Times New Roman" panose="02020603050405020304" pitchFamily="18" charset="0"/>
              </a:rPr>
              <a:t>&amp;</a:t>
            </a:r>
            <a:r>
              <a:rPr lang="en-IN" sz="2400" b="1" dirty="0"/>
              <a:t> </a:t>
            </a:r>
            <a:r>
              <a:rPr lang="en-IN" sz="2400" b="1" dirty="0">
                <a:solidFill>
                  <a:schemeClr val="bg1"/>
                </a:solidFill>
                <a:latin typeface="Times New Roman" panose="02020603050405020304" pitchFamily="18" charset="0"/>
                <a:cs typeface="Times New Roman" panose="02020603050405020304" pitchFamily="18" charset="0"/>
              </a:rPr>
              <a:t>FOREIGN</a:t>
            </a:r>
            <a:r>
              <a:rPr lang="en-IN" sz="2400" b="1" dirty="0"/>
              <a:t> </a:t>
            </a:r>
            <a:r>
              <a:rPr lang="en-IN" sz="2400" b="1" dirty="0">
                <a:solidFill>
                  <a:schemeClr val="bg1"/>
                </a:solidFill>
                <a:latin typeface="Times New Roman" panose="02020603050405020304" pitchFamily="18" charset="0"/>
                <a:cs typeface="Times New Roman" panose="02020603050405020304" pitchFamily="18" charset="0"/>
              </a:rPr>
              <a:t>KEYS</a:t>
            </a:r>
          </a:p>
        </p:txBody>
      </p:sp>
      <p:graphicFrame>
        <p:nvGraphicFramePr>
          <p:cNvPr id="8" name="Table 7">
            <a:extLst>
              <a:ext uri="{FF2B5EF4-FFF2-40B4-BE49-F238E27FC236}">
                <a16:creationId xmlns:a16="http://schemas.microsoft.com/office/drawing/2014/main" id="{2BE75C41-47C6-D93A-321F-74C6391D0C84}"/>
              </a:ext>
            </a:extLst>
          </p:cNvPr>
          <p:cNvGraphicFramePr>
            <a:graphicFrameLocks noGrp="1"/>
          </p:cNvGraphicFramePr>
          <p:nvPr>
            <p:extLst>
              <p:ext uri="{D42A27DB-BD31-4B8C-83A1-F6EECF244321}">
                <p14:modId xmlns:p14="http://schemas.microsoft.com/office/powerpoint/2010/main" val="367310887"/>
              </p:ext>
            </p:extLst>
          </p:nvPr>
        </p:nvGraphicFramePr>
        <p:xfrm>
          <a:off x="296699" y="2930249"/>
          <a:ext cx="9145017" cy="3362769"/>
        </p:xfrm>
        <a:graphic>
          <a:graphicData uri="http://schemas.openxmlformats.org/drawingml/2006/table">
            <a:tbl>
              <a:tblPr>
                <a:tableStyleId>{5C22544A-7EE6-4342-B048-85BDC9FD1C3A}</a:tableStyleId>
              </a:tblPr>
              <a:tblGrid>
                <a:gridCol w="3048339">
                  <a:extLst>
                    <a:ext uri="{9D8B030D-6E8A-4147-A177-3AD203B41FA5}">
                      <a16:colId xmlns:a16="http://schemas.microsoft.com/office/drawing/2014/main" val="1495048909"/>
                    </a:ext>
                  </a:extLst>
                </a:gridCol>
                <a:gridCol w="3048339">
                  <a:extLst>
                    <a:ext uri="{9D8B030D-6E8A-4147-A177-3AD203B41FA5}">
                      <a16:colId xmlns:a16="http://schemas.microsoft.com/office/drawing/2014/main" val="3959516004"/>
                    </a:ext>
                  </a:extLst>
                </a:gridCol>
                <a:gridCol w="3048339">
                  <a:extLst>
                    <a:ext uri="{9D8B030D-6E8A-4147-A177-3AD203B41FA5}">
                      <a16:colId xmlns:a16="http://schemas.microsoft.com/office/drawing/2014/main" val="2779090536"/>
                    </a:ext>
                  </a:extLst>
                </a:gridCol>
              </a:tblGrid>
              <a:tr h="298913">
                <a:tc>
                  <a:txBody>
                    <a:bodyPr/>
                    <a:lstStyle/>
                    <a:p>
                      <a:pPr>
                        <a:buNone/>
                      </a:pPr>
                      <a:r>
                        <a:rPr lang="en-IN" sz="1400" dirty="0">
                          <a:latin typeface="Times New Roman" panose="02020603050405020304" pitchFamily="18" charset="0"/>
                          <a:cs typeface="Times New Roman" panose="02020603050405020304" pitchFamily="18" charset="0"/>
                        </a:rPr>
                        <a:t>Entity / Table</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Primary Key (PK)</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Foreign Key (FK)</a:t>
                      </a:r>
                    </a:p>
                  </a:txBody>
                  <a:tcPr marL="73201" marR="73201" marT="36601" marB="36601" anchor="ctr"/>
                </a:tc>
                <a:extLst>
                  <a:ext uri="{0D108BD9-81ED-4DB2-BD59-A6C34878D82A}">
                    <a16:rowId xmlns:a16="http://schemas.microsoft.com/office/drawing/2014/main" val="2868650514"/>
                  </a:ext>
                </a:extLst>
              </a:tr>
              <a:tr h="298913">
                <a:tc>
                  <a:txBody>
                    <a:bodyPr/>
                    <a:lstStyle/>
                    <a:p>
                      <a:pPr>
                        <a:buNone/>
                      </a:pPr>
                      <a:r>
                        <a:rPr lang="en-IN" sz="1400">
                          <a:latin typeface="Times New Roman" panose="02020603050405020304" pitchFamily="18" charset="0"/>
                          <a:cs typeface="Times New Roman" panose="02020603050405020304" pitchFamily="18" charset="0"/>
                        </a:rPr>
                        <a:t>Patient</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Patient_ID</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a:t>
                      </a:r>
                    </a:p>
                  </a:txBody>
                  <a:tcPr marL="73201" marR="73201" marT="36601" marB="36601" anchor="ctr"/>
                </a:tc>
                <a:extLst>
                  <a:ext uri="{0D108BD9-81ED-4DB2-BD59-A6C34878D82A}">
                    <a16:rowId xmlns:a16="http://schemas.microsoft.com/office/drawing/2014/main" val="1682044996"/>
                  </a:ext>
                </a:extLst>
              </a:tr>
              <a:tr h="523097">
                <a:tc>
                  <a:txBody>
                    <a:bodyPr/>
                    <a:lstStyle/>
                    <a:p>
                      <a:pPr>
                        <a:buNone/>
                      </a:pPr>
                      <a:r>
                        <a:rPr lang="en-IN" sz="1400" dirty="0">
                          <a:latin typeface="Times New Roman" panose="02020603050405020304" pitchFamily="18" charset="0"/>
                          <a:cs typeface="Times New Roman" panose="02020603050405020304" pitchFamily="18" charset="0"/>
                        </a:rPr>
                        <a:t>Doctor</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Doctor_ID</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Department_ID → Department</a:t>
                      </a:r>
                    </a:p>
                  </a:txBody>
                  <a:tcPr marL="73201" marR="73201" marT="36601" marB="36601" anchor="ctr"/>
                </a:tc>
                <a:extLst>
                  <a:ext uri="{0D108BD9-81ED-4DB2-BD59-A6C34878D82A}">
                    <a16:rowId xmlns:a16="http://schemas.microsoft.com/office/drawing/2014/main" val="1098604596"/>
                  </a:ext>
                </a:extLst>
              </a:tr>
              <a:tr h="298913">
                <a:tc>
                  <a:txBody>
                    <a:bodyPr/>
                    <a:lstStyle/>
                    <a:p>
                      <a:pPr>
                        <a:buNone/>
                      </a:pPr>
                      <a:r>
                        <a:rPr lang="en-IN" sz="1400">
                          <a:latin typeface="Times New Roman" panose="02020603050405020304" pitchFamily="18" charset="0"/>
                          <a:cs typeface="Times New Roman" panose="02020603050405020304" pitchFamily="18" charset="0"/>
                        </a:rPr>
                        <a:t>Department</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Department_ID</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a:t>
                      </a:r>
                    </a:p>
                  </a:txBody>
                  <a:tcPr marL="73201" marR="73201" marT="36601" marB="36601" anchor="ctr"/>
                </a:tc>
                <a:extLst>
                  <a:ext uri="{0D108BD9-81ED-4DB2-BD59-A6C34878D82A}">
                    <a16:rowId xmlns:a16="http://schemas.microsoft.com/office/drawing/2014/main" val="493220942"/>
                  </a:ext>
                </a:extLst>
              </a:tr>
              <a:tr h="523097">
                <a:tc>
                  <a:txBody>
                    <a:bodyPr/>
                    <a:lstStyle/>
                    <a:p>
                      <a:pPr>
                        <a:buNone/>
                      </a:pPr>
                      <a:r>
                        <a:rPr lang="en-IN" sz="1400">
                          <a:latin typeface="Times New Roman" panose="02020603050405020304" pitchFamily="18" charset="0"/>
                          <a:cs typeface="Times New Roman" panose="02020603050405020304" pitchFamily="18" charset="0"/>
                        </a:rPr>
                        <a:t>Appointment</a:t>
                      </a:r>
                    </a:p>
                  </a:txBody>
                  <a:tcPr marL="73201" marR="73201" marT="36601" marB="36601" anchor="ctr"/>
                </a:tc>
                <a:tc>
                  <a:txBody>
                    <a:bodyPr/>
                    <a:lstStyle/>
                    <a:p>
                      <a:pPr>
                        <a:buNone/>
                      </a:pPr>
                      <a:r>
                        <a:rPr lang="en-IN" sz="1400" dirty="0" err="1">
                          <a:latin typeface="Times New Roman" panose="02020603050405020304" pitchFamily="18" charset="0"/>
                          <a:cs typeface="Times New Roman" panose="02020603050405020304" pitchFamily="18" charset="0"/>
                        </a:rPr>
                        <a:t>Appointment_ID</a:t>
                      </a:r>
                      <a:endParaRPr lang="en-IN" sz="1400" dirty="0">
                        <a:latin typeface="Times New Roman" panose="02020603050405020304" pitchFamily="18" charset="0"/>
                        <a:cs typeface="Times New Roman" panose="02020603050405020304" pitchFamily="18" charset="0"/>
                      </a:endParaRPr>
                    </a:p>
                  </a:txBody>
                  <a:tcPr marL="73201" marR="73201" marT="36601" marB="36601" anchor="ctr"/>
                </a:tc>
                <a:tc>
                  <a:txBody>
                    <a:bodyPr/>
                    <a:lstStyle/>
                    <a:p>
                      <a:pPr>
                        <a:buNone/>
                      </a:pPr>
                      <a:r>
                        <a:rPr lang="en-IN" sz="1400" dirty="0" err="1">
                          <a:latin typeface="Times New Roman" panose="02020603050405020304" pitchFamily="18" charset="0"/>
                          <a:cs typeface="Times New Roman" panose="02020603050405020304" pitchFamily="18" charset="0"/>
                        </a:rPr>
                        <a:t>Patient_ID</a:t>
                      </a:r>
                      <a:r>
                        <a:rPr lang="en-IN" sz="1400" dirty="0">
                          <a:latin typeface="Times New Roman" panose="02020603050405020304" pitchFamily="18" charset="0"/>
                          <a:cs typeface="Times New Roman" panose="02020603050405020304" pitchFamily="18" charset="0"/>
                        </a:rPr>
                        <a:t> → Patient, </a:t>
                      </a:r>
                      <a:r>
                        <a:rPr lang="en-IN" sz="1400" dirty="0" err="1">
                          <a:latin typeface="Times New Roman" panose="02020603050405020304" pitchFamily="18" charset="0"/>
                          <a:cs typeface="Times New Roman" panose="02020603050405020304" pitchFamily="18" charset="0"/>
                        </a:rPr>
                        <a:t>Doctor_ID</a:t>
                      </a:r>
                      <a:r>
                        <a:rPr lang="en-IN" sz="1400" dirty="0">
                          <a:latin typeface="Times New Roman" panose="02020603050405020304" pitchFamily="18" charset="0"/>
                          <a:cs typeface="Times New Roman" panose="02020603050405020304" pitchFamily="18" charset="0"/>
                        </a:rPr>
                        <a:t> → Doctor</a:t>
                      </a:r>
                    </a:p>
                  </a:txBody>
                  <a:tcPr marL="73201" marR="73201" marT="36601" marB="36601" anchor="ctr"/>
                </a:tc>
                <a:extLst>
                  <a:ext uri="{0D108BD9-81ED-4DB2-BD59-A6C34878D82A}">
                    <a16:rowId xmlns:a16="http://schemas.microsoft.com/office/drawing/2014/main" val="2542216664"/>
                  </a:ext>
                </a:extLst>
              </a:tr>
              <a:tr h="298913">
                <a:tc>
                  <a:txBody>
                    <a:bodyPr/>
                    <a:lstStyle/>
                    <a:p>
                      <a:pPr>
                        <a:buNone/>
                      </a:pPr>
                      <a:r>
                        <a:rPr lang="en-IN" sz="1400">
                          <a:latin typeface="Times New Roman" panose="02020603050405020304" pitchFamily="18" charset="0"/>
                          <a:cs typeface="Times New Roman" panose="02020603050405020304" pitchFamily="18" charset="0"/>
                        </a:rPr>
                        <a:t>Admission</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Admission_ID</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Patient_ID → Patient</a:t>
                      </a:r>
                    </a:p>
                  </a:txBody>
                  <a:tcPr marL="73201" marR="73201" marT="36601" marB="36601" anchor="ctr"/>
                </a:tc>
                <a:extLst>
                  <a:ext uri="{0D108BD9-81ED-4DB2-BD59-A6C34878D82A}">
                    <a16:rowId xmlns:a16="http://schemas.microsoft.com/office/drawing/2014/main" val="485353427"/>
                  </a:ext>
                </a:extLst>
              </a:tr>
              <a:tr h="523097">
                <a:tc>
                  <a:txBody>
                    <a:bodyPr/>
                    <a:lstStyle/>
                    <a:p>
                      <a:pPr>
                        <a:buNone/>
                      </a:pPr>
                      <a:r>
                        <a:rPr lang="en-IN" sz="1400">
                          <a:latin typeface="Times New Roman" panose="02020603050405020304" pitchFamily="18" charset="0"/>
                          <a:cs typeface="Times New Roman" panose="02020603050405020304" pitchFamily="18" charset="0"/>
                        </a:rPr>
                        <a:t>Treatment</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Treatment_ID</a:t>
                      </a:r>
                    </a:p>
                  </a:txBody>
                  <a:tcPr marL="73201" marR="73201" marT="36601" marB="36601" anchor="ctr"/>
                </a:tc>
                <a:tc>
                  <a:txBody>
                    <a:bodyPr/>
                    <a:lstStyle/>
                    <a:p>
                      <a:pPr>
                        <a:buNone/>
                      </a:pPr>
                      <a:r>
                        <a:rPr lang="en-IN" sz="1400" dirty="0" err="1">
                          <a:latin typeface="Times New Roman" panose="02020603050405020304" pitchFamily="18" charset="0"/>
                          <a:cs typeface="Times New Roman" panose="02020603050405020304" pitchFamily="18" charset="0"/>
                        </a:rPr>
                        <a:t>Patient_ID</a:t>
                      </a:r>
                      <a:r>
                        <a:rPr lang="en-IN" sz="1400" dirty="0">
                          <a:latin typeface="Times New Roman" panose="02020603050405020304" pitchFamily="18" charset="0"/>
                          <a:cs typeface="Times New Roman" panose="02020603050405020304" pitchFamily="18" charset="0"/>
                        </a:rPr>
                        <a:t> → Patient, </a:t>
                      </a:r>
                      <a:r>
                        <a:rPr lang="en-IN" sz="1400" dirty="0" err="1">
                          <a:latin typeface="Times New Roman" panose="02020603050405020304" pitchFamily="18" charset="0"/>
                          <a:cs typeface="Times New Roman" panose="02020603050405020304" pitchFamily="18" charset="0"/>
                        </a:rPr>
                        <a:t>Doctor_ID</a:t>
                      </a:r>
                      <a:r>
                        <a:rPr lang="en-IN" sz="1400" dirty="0">
                          <a:latin typeface="Times New Roman" panose="02020603050405020304" pitchFamily="18" charset="0"/>
                          <a:cs typeface="Times New Roman" panose="02020603050405020304" pitchFamily="18" charset="0"/>
                        </a:rPr>
                        <a:t> → Doctor</a:t>
                      </a:r>
                    </a:p>
                  </a:txBody>
                  <a:tcPr marL="73201" marR="73201" marT="36601" marB="36601" anchor="ctr"/>
                </a:tc>
                <a:extLst>
                  <a:ext uri="{0D108BD9-81ED-4DB2-BD59-A6C34878D82A}">
                    <a16:rowId xmlns:a16="http://schemas.microsoft.com/office/drawing/2014/main" val="311523342"/>
                  </a:ext>
                </a:extLst>
              </a:tr>
              <a:tr h="298913">
                <a:tc>
                  <a:txBody>
                    <a:bodyPr/>
                    <a:lstStyle/>
                    <a:p>
                      <a:pPr>
                        <a:buNone/>
                      </a:pPr>
                      <a:r>
                        <a:rPr lang="en-IN" sz="1400">
                          <a:latin typeface="Times New Roman" panose="02020603050405020304" pitchFamily="18" charset="0"/>
                          <a:cs typeface="Times New Roman" panose="02020603050405020304" pitchFamily="18" charset="0"/>
                        </a:rPr>
                        <a:t>Medicine</a:t>
                      </a:r>
                    </a:p>
                  </a:txBody>
                  <a:tcPr marL="73201" marR="73201" marT="36601" marB="36601" anchor="ctr"/>
                </a:tc>
                <a:tc>
                  <a:txBody>
                    <a:bodyPr/>
                    <a:lstStyle/>
                    <a:p>
                      <a:pPr>
                        <a:buNone/>
                      </a:pPr>
                      <a:r>
                        <a:rPr lang="en-IN" sz="1400" dirty="0" err="1">
                          <a:latin typeface="Times New Roman" panose="02020603050405020304" pitchFamily="18" charset="0"/>
                          <a:cs typeface="Times New Roman" panose="02020603050405020304" pitchFamily="18" charset="0"/>
                        </a:rPr>
                        <a:t>Medicine_ID</a:t>
                      </a:r>
                      <a:endParaRPr lang="en-IN" sz="1400" dirty="0">
                        <a:latin typeface="Times New Roman" panose="02020603050405020304" pitchFamily="18" charset="0"/>
                        <a:cs typeface="Times New Roman" panose="02020603050405020304" pitchFamily="18" charset="0"/>
                      </a:endParaRP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a:t>
                      </a:r>
                    </a:p>
                  </a:txBody>
                  <a:tcPr marL="73201" marR="73201" marT="36601" marB="36601" anchor="ctr"/>
                </a:tc>
                <a:extLst>
                  <a:ext uri="{0D108BD9-81ED-4DB2-BD59-A6C34878D82A}">
                    <a16:rowId xmlns:a16="http://schemas.microsoft.com/office/drawing/2014/main" val="1202773483"/>
                  </a:ext>
                </a:extLst>
              </a:tr>
              <a:tr h="298913">
                <a:tc>
                  <a:txBody>
                    <a:bodyPr/>
                    <a:lstStyle/>
                    <a:p>
                      <a:pPr>
                        <a:buNone/>
                      </a:pPr>
                      <a:r>
                        <a:rPr lang="en-IN" sz="1400">
                          <a:latin typeface="Times New Roman" panose="02020603050405020304" pitchFamily="18" charset="0"/>
                          <a:cs typeface="Times New Roman" panose="02020603050405020304" pitchFamily="18" charset="0"/>
                        </a:rPr>
                        <a:t>Bill</a:t>
                      </a:r>
                    </a:p>
                  </a:txBody>
                  <a:tcPr marL="73201" marR="73201" marT="36601" marB="36601" anchor="ctr"/>
                </a:tc>
                <a:tc>
                  <a:txBody>
                    <a:bodyPr/>
                    <a:lstStyle/>
                    <a:p>
                      <a:pPr>
                        <a:buNone/>
                      </a:pPr>
                      <a:r>
                        <a:rPr lang="en-IN" sz="1400">
                          <a:latin typeface="Times New Roman" panose="02020603050405020304" pitchFamily="18" charset="0"/>
                          <a:cs typeface="Times New Roman" panose="02020603050405020304" pitchFamily="18" charset="0"/>
                        </a:rPr>
                        <a:t>Bill_ID</a:t>
                      </a:r>
                    </a:p>
                  </a:txBody>
                  <a:tcPr marL="73201" marR="73201" marT="36601" marB="36601" anchor="ctr"/>
                </a:tc>
                <a:tc>
                  <a:txBody>
                    <a:bodyPr/>
                    <a:lstStyle/>
                    <a:p>
                      <a:pPr>
                        <a:buNone/>
                      </a:pPr>
                      <a:r>
                        <a:rPr lang="en-IN" sz="1400" dirty="0" err="1">
                          <a:latin typeface="Times New Roman" panose="02020603050405020304" pitchFamily="18" charset="0"/>
                          <a:cs typeface="Times New Roman" panose="02020603050405020304" pitchFamily="18" charset="0"/>
                        </a:rPr>
                        <a:t>Patient_ID</a:t>
                      </a:r>
                      <a:r>
                        <a:rPr lang="en-IN" sz="1400" dirty="0">
                          <a:latin typeface="Times New Roman" panose="02020603050405020304" pitchFamily="18" charset="0"/>
                          <a:cs typeface="Times New Roman" panose="02020603050405020304" pitchFamily="18" charset="0"/>
                        </a:rPr>
                        <a:t> → Patient</a:t>
                      </a:r>
                    </a:p>
                  </a:txBody>
                  <a:tcPr marL="73201" marR="73201" marT="36601" marB="36601" anchor="ctr"/>
                </a:tc>
                <a:extLst>
                  <a:ext uri="{0D108BD9-81ED-4DB2-BD59-A6C34878D82A}">
                    <a16:rowId xmlns:a16="http://schemas.microsoft.com/office/drawing/2014/main" val="1755522547"/>
                  </a:ext>
                </a:extLst>
              </a:tr>
            </a:tbl>
          </a:graphicData>
        </a:graphic>
      </p:graphicFrame>
      <p:sp>
        <p:nvSpPr>
          <p:cNvPr id="9" name="TextBox 8">
            <a:extLst>
              <a:ext uri="{FF2B5EF4-FFF2-40B4-BE49-F238E27FC236}">
                <a16:creationId xmlns:a16="http://schemas.microsoft.com/office/drawing/2014/main" id="{BC652146-1676-2280-F7E2-6FE3DB5B58A9}"/>
              </a:ext>
            </a:extLst>
          </p:cNvPr>
          <p:cNvSpPr txBox="1"/>
          <p:nvPr/>
        </p:nvSpPr>
        <p:spPr>
          <a:xfrm>
            <a:off x="214862" y="888599"/>
            <a:ext cx="9851018" cy="203132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Primary Key (PK):</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primary key is a column that uniquely identifies each record in a table. It cannot have duplicate values.</a:t>
            </a:r>
          </a:p>
          <a:p>
            <a:r>
              <a:rPr lang="en-IN" b="1" dirty="0">
                <a:latin typeface="Times New Roman" panose="02020603050405020304" pitchFamily="18" charset="0"/>
                <a:cs typeface="Times New Roman" panose="02020603050405020304" pitchFamily="18" charset="0"/>
              </a:rPr>
              <a:t>Example: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uniquely identifies each patient.</a:t>
            </a:r>
          </a:p>
          <a:p>
            <a:r>
              <a:rPr lang="en-IN" b="1" dirty="0">
                <a:latin typeface="Times New Roman" panose="02020603050405020304" pitchFamily="18" charset="0"/>
                <a:cs typeface="Times New Roman" panose="02020603050405020304" pitchFamily="18" charset="0"/>
              </a:rPr>
              <a:t>Foreign Key (FK):</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foreign key is a column that connects one table to another table. It usually refers to the primary key of another table.</a:t>
            </a:r>
          </a:p>
          <a:p>
            <a:r>
              <a:rPr lang="en-IN" b="1" dirty="0">
                <a:latin typeface="Times New Roman" panose="02020603050405020304" pitchFamily="18" charset="0"/>
                <a:cs typeface="Times New Roman" panose="02020603050405020304" pitchFamily="18" charset="0"/>
              </a:rPr>
              <a:t>Example: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Doctor.Department_ID</a:t>
            </a:r>
            <a:r>
              <a:rPr lang="en-IN" dirty="0">
                <a:latin typeface="Times New Roman" panose="02020603050405020304" pitchFamily="18" charset="0"/>
                <a:cs typeface="Times New Roman" panose="02020603050405020304" pitchFamily="18" charset="0"/>
              </a:rPr>
              <a:t> connects the Doctor table with the Department table.</a:t>
            </a:r>
          </a:p>
        </p:txBody>
      </p:sp>
      <p:sp>
        <p:nvSpPr>
          <p:cNvPr id="11" name="TextBox 10">
            <a:extLst>
              <a:ext uri="{FF2B5EF4-FFF2-40B4-BE49-F238E27FC236}">
                <a16:creationId xmlns:a16="http://schemas.microsoft.com/office/drawing/2014/main" id="{7FB1D163-BBA8-1942-5741-1FCF84775849}"/>
              </a:ext>
            </a:extLst>
          </p:cNvPr>
          <p:cNvSpPr txBox="1"/>
          <p:nvPr/>
        </p:nvSpPr>
        <p:spPr>
          <a:xfrm>
            <a:off x="0" y="6314124"/>
            <a:ext cx="10024608" cy="1754326"/>
          </a:xfrm>
          <a:prstGeom prst="rect">
            <a:avLst/>
          </a:prstGeom>
          <a:noFill/>
        </p:spPr>
        <p:txBody>
          <a:bodyPr wrap="square" rtlCol="0">
            <a:spAutoFit/>
          </a:bodyPr>
          <a:lstStyle/>
          <a:p>
            <a:pPr marL="288000"/>
            <a:r>
              <a:rPr lang="en-IN" b="1" dirty="0">
                <a:latin typeface="Times New Roman" panose="02020603050405020304" pitchFamily="18" charset="0"/>
                <a:cs typeface="Times New Roman" panose="02020603050405020304" pitchFamily="18" charset="0"/>
              </a:rPr>
              <a:t>Key Takeaway</a:t>
            </a:r>
          </a:p>
          <a:p>
            <a:pPr marL="288000"/>
            <a:r>
              <a:rPr lang="en-IN" dirty="0">
                <a:latin typeface="Times New Roman" panose="02020603050405020304" pitchFamily="18" charset="0"/>
                <a:cs typeface="Times New Roman" panose="02020603050405020304" pitchFamily="18" charset="0"/>
              </a:rPr>
              <a:t>Primary Key = identifies a record uniquely.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Foreign Key = connects related tables.</a:t>
            </a:r>
          </a:p>
          <a:p>
            <a:pPr marL="288000"/>
            <a:r>
              <a:rPr lang="en-IN" dirty="0">
                <a:latin typeface="Times New Roman" panose="02020603050405020304" pitchFamily="18" charset="0"/>
                <a:cs typeface="Times New Roman" panose="02020603050405020304" pitchFamily="18" charset="0"/>
              </a:rPr>
              <a:t>Together, PKs and FKs help maintain relationships, accuracy, and consistency in our  Hospital Management  System </a:t>
            </a:r>
          </a:p>
          <a:p>
            <a:pPr marL="288000"/>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0185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DFD2E-DF43-D7B6-BCEE-070897B1C861}"/>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6D805D88-EA89-9DE2-CD51-0F999A34DE4B}"/>
              </a:ext>
            </a:extLst>
          </p:cNvPr>
          <p:cNvGrpSpPr/>
          <p:nvPr/>
        </p:nvGrpSpPr>
        <p:grpSpPr>
          <a:xfrm>
            <a:off x="2724944" y="89378"/>
            <a:ext cx="5103904" cy="1198311"/>
            <a:chOff x="2648188" y="47148"/>
            <a:chExt cx="5103904" cy="1198311"/>
          </a:xfrm>
        </p:grpSpPr>
        <p:pic>
          <p:nvPicPr>
            <p:cNvPr id="5" name="object 4">
              <a:extLst>
                <a:ext uri="{FF2B5EF4-FFF2-40B4-BE49-F238E27FC236}">
                  <a16:creationId xmlns:a16="http://schemas.microsoft.com/office/drawing/2014/main" id="{EA74E494-CD7C-58DE-94C7-696EBFCA0910}"/>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188D801F-15CA-3E0A-52C1-31E23C8BDA63}"/>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E0F4F5E0-2C26-E94D-4F13-030E9632792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0F1F2D3E-6737-869E-8B45-FF9A5A59A9E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br>
                <a:rPr lang="en-IN" dirty="0"/>
              </a:br>
              <a:endParaRPr dirty="0"/>
            </a:p>
          </p:txBody>
        </p:sp>
      </p:grpSp>
      <p:pic>
        <p:nvPicPr>
          <p:cNvPr id="17" name="object 3">
            <a:extLst>
              <a:ext uri="{FF2B5EF4-FFF2-40B4-BE49-F238E27FC236}">
                <a16:creationId xmlns:a16="http://schemas.microsoft.com/office/drawing/2014/main" id="{9F666F60-B543-4AC1-071A-172DDF2E0257}"/>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C2D382-75EA-8717-C459-5B6F77F9CED6}"/>
              </a:ext>
            </a:extLst>
          </p:cNvPr>
          <p:cNvSpPr txBox="1"/>
          <p:nvPr/>
        </p:nvSpPr>
        <p:spPr>
          <a:xfrm>
            <a:off x="3712669" y="285779"/>
            <a:ext cx="3346881" cy="461665"/>
          </a:xfrm>
          <a:prstGeom prst="rect">
            <a:avLst/>
          </a:prstGeom>
          <a:noFill/>
        </p:spPr>
        <p:txBody>
          <a:bodyPr wrap="square" rtlCol="0">
            <a:spAutoFit/>
          </a:bodyPr>
          <a:lstStyle/>
          <a:p>
            <a:r>
              <a:rPr lang="en-IN" sz="2400" b="1" dirty="0">
                <a:solidFill>
                  <a:schemeClr val="bg1"/>
                </a:solidFill>
              </a:rPr>
              <a:t>RESPONSIBILITIES</a:t>
            </a:r>
          </a:p>
        </p:txBody>
      </p:sp>
      <p:graphicFrame>
        <p:nvGraphicFramePr>
          <p:cNvPr id="2" name="Table 1">
            <a:extLst>
              <a:ext uri="{FF2B5EF4-FFF2-40B4-BE49-F238E27FC236}">
                <a16:creationId xmlns:a16="http://schemas.microsoft.com/office/drawing/2014/main" id="{6AEB2CF5-1C25-C79F-DD50-4ED967A5FF33}"/>
              </a:ext>
            </a:extLst>
          </p:cNvPr>
          <p:cNvGraphicFramePr>
            <a:graphicFrameLocks noGrp="1"/>
          </p:cNvGraphicFramePr>
          <p:nvPr>
            <p:extLst>
              <p:ext uri="{D42A27DB-BD31-4B8C-83A1-F6EECF244321}">
                <p14:modId xmlns:p14="http://schemas.microsoft.com/office/powerpoint/2010/main" val="3637862999"/>
              </p:ext>
            </p:extLst>
          </p:nvPr>
        </p:nvGraphicFramePr>
        <p:xfrm>
          <a:off x="1356792" y="1509936"/>
          <a:ext cx="8058636" cy="4970110"/>
        </p:xfrm>
        <a:graphic>
          <a:graphicData uri="http://schemas.openxmlformats.org/drawingml/2006/table">
            <a:tbl>
              <a:tblPr>
                <a:tableStyleId>{69CF1AB2-1976-4502-BF36-3FF5EA218861}</a:tableStyleId>
              </a:tblPr>
              <a:tblGrid>
                <a:gridCol w="2544283">
                  <a:extLst>
                    <a:ext uri="{9D8B030D-6E8A-4147-A177-3AD203B41FA5}">
                      <a16:colId xmlns:a16="http://schemas.microsoft.com/office/drawing/2014/main" val="3777829288"/>
                    </a:ext>
                  </a:extLst>
                </a:gridCol>
                <a:gridCol w="2994072">
                  <a:extLst>
                    <a:ext uri="{9D8B030D-6E8A-4147-A177-3AD203B41FA5}">
                      <a16:colId xmlns:a16="http://schemas.microsoft.com/office/drawing/2014/main" val="1727001727"/>
                    </a:ext>
                  </a:extLst>
                </a:gridCol>
                <a:gridCol w="2520281">
                  <a:extLst>
                    <a:ext uri="{9D8B030D-6E8A-4147-A177-3AD203B41FA5}">
                      <a16:colId xmlns:a16="http://schemas.microsoft.com/office/drawing/2014/main" val="1545008679"/>
                    </a:ext>
                  </a:extLst>
                </a:gridCol>
              </a:tblGrid>
              <a:tr h="285624">
                <a:tc>
                  <a:txBody>
                    <a:bodyPr/>
                    <a:lstStyle/>
                    <a:p>
                      <a:pPr>
                        <a:buNone/>
                      </a:pPr>
                      <a:r>
                        <a:rPr lang="en-IN" sz="1600" dirty="0">
                          <a:latin typeface="Times New Roman" panose="02020603050405020304" pitchFamily="18" charset="0"/>
                          <a:cs typeface="Times New Roman" panose="02020603050405020304" pitchFamily="18" charset="0"/>
                        </a:rPr>
                        <a:t>Member</a:t>
                      </a:r>
                    </a:p>
                  </a:txBody>
                  <a:tcPr marL="48442" marR="48442" marT="24221" marB="24221" anchor="ctr"/>
                </a:tc>
                <a:tc>
                  <a:txBody>
                    <a:bodyPr/>
                    <a:lstStyle/>
                    <a:p>
                      <a:pPr>
                        <a:buNone/>
                      </a:pPr>
                      <a:r>
                        <a:rPr lang="en-IN" sz="1600">
                          <a:latin typeface="Times New Roman" panose="02020603050405020304" pitchFamily="18" charset="0"/>
                          <a:cs typeface="Times New Roman" panose="02020603050405020304" pitchFamily="18" charset="0"/>
                        </a:rPr>
                        <a:t>GitHub Responsibility</a:t>
                      </a:r>
                    </a:p>
                  </a:txBody>
                  <a:tcPr marL="48442" marR="48442" marT="24221" marB="24221" anchor="ctr"/>
                </a:tc>
                <a:tc>
                  <a:txBody>
                    <a:bodyPr/>
                    <a:lstStyle/>
                    <a:p>
                      <a:pPr>
                        <a:buNone/>
                      </a:pPr>
                      <a:r>
                        <a:rPr lang="en-IN" sz="1600">
                          <a:latin typeface="Times New Roman" panose="02020603050405020304" pitchFamily="18" charset="0"/>
                          <a:cs typeface="Times New Roman" panose="02020603050405020304" pitchFamily="18" charset="0"/>
                        </a:rPr>
                        <a:t>Work</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extLst>
                  <a:ext uri="{0D108BD9-81ED-4DB2-BD59-A6C34878D82A}">
                    <a16:rowId xmlns:a16="http://schemas.microsoft.com/office/drawing/2014/main" val="1277042473"/>
                  </a:ext>
                </a:extLst>
              </a:tr>
              <a:tr h="1152553">
                <a:tc>
                  <a:txBody>
                    <a:bodyPr/>
                    <a:lstStyle/>
                    <a:p>
                      <a:pPr>
                        <a:buNone/>
                      </a:pPr>
                      <a:r>
                        <a:rPr lang="en-IN" sz="1600" b="1" dirty="0">
                          <a:latin typeface="Times New Roman" panose="02020603050405020304" pitchFamily="18" charset="0"/>
                          <a:cs typeface="Times New Roman" panose="02020603050405020304" pitchFamily="18" charset="0"/>
                        </a:rPr>
                        <a:t>Sahithi – Team Lead</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tc>
                  <a:txBody>
                    <a:bodyPr/>
                    <a:lstStyle/>
                    <a:p>
                      <a:pPr>
                        <a:buNone/>
                      </a:pPr>
                      <a:r>
                        <a:rPr lang="en-IN" sz="1600" dirty="0">
                          <a:latin typeface="Times New Roman" panose="02020603050405020304" pitchFamily="18" charset="0"/>
                          <a:cs typeface="Times New Roman" panose="02020603050405020304" pitchFamily="18" charset="0"/>
                        </a:rPr>
                        <a:t>Repository &amp; Project Management</a:t>
                      </a:r>
                    </a:p>
                  </a:txBody>
                  <a:tcPr marL="48442" marR="48442" marT="24221" marB="24221" anchor="ctr"/>
                </a:tc>
                <a:tc>
                  <a:txBody>
                    <a:bodyPr/>
                    <a:lstStyle/>
                    <a:p>
                      <a:pPr>
                        <a:buNone/>
                      </a:pPr>
                      <a:r>
                        <a:rPr lang="en-IN" sz="1600" dirty="0"/>
                        <a:t>Create/manage GitHub repository, assign tasks, merge code, monitor project progress</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extLst>
                  <a:ext uri="{0D108BD9-81ED-4DB2-BD59-A6C34878D82A}">
                    <a16:rowId xmlns:a16="http://schemas.microsoft.com/office/drawing/2014/main" val="2534133358"/>
                  </a:ext>
                </a:extLst>
              </a:tr>
              <a:tr h="1003437">
                <a:tc>
                  <a:txBody>
                    <a:bodyPr/>
                    <a:lstStyle/>
                    <a:p>
                      <a:pPr>
                        <a:buNone/>
                      </a:pPr>
                      <a:r>
                        <a:rPr lang="en-IN" sz="1600" b="1" dirty="0">
                          <a:latin typeface="Times New Roman" panose="02020603050405020304" pitchFamily="18" charset="0"/>
                          <a:cs typeface="Times New Roman" panose="02020603050405020304" pitchFamily="18" charset="0"/>
                        </a:rPr>
                        <a:t>Devi – Database Developer</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tc>
                  <a:txBody>
                    <a:bodyPr/>
                    <a:lstStyle/>
                    <a:p>
                      <a:pPr>
                        <a:buNone/>
                      </a:pPr>
                      <a:r>
                        <a:rPr lang="en-IN" sz="1600" dirty="0">
                          <a:latin typeface="Times New Roman" panose="02020603050405020304" pitchFamily="18" charset="0"/>
                          <a:cs typeface="Times New Roman" panose="02020603050405020304" pitchFamily="18" charset="0"/>
                        </a:rPr>
                        <a:t>Database &amp; SQL</a:t>
                      </a:r>
                    </a:p>
                  </a:txBody>
                  <a:tcPr marL="48442" marR="48442" marT="24221" marB="24221" anchor="ctr"/>
                </a:tc>
                <a:tc>
                  <a:txBody>
                    <a:bodyPr/>
                    <a:lstStyle/>
                    <a:p>
                      <a:pPr>
                        <a:buNone/>
                      </a:pPr>
                      <a:r>
                        <a:rPr lang="en-IN" sz="1600" dirty="0"/>
                        <a:t>Design database, create tables, write SQL queries, manage CRUD operations</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extLst>
                  <a:ext uri="{0D108BD9-81ED-4DB2-BD59-A6C34878D82A}">
                    <a16:rowId xmlns:a16="http://schemas.microsoft.com/office/drawing/2014/main" val="3387993323"/>
                  </a:ext>
                </a:extLst>
              </a:tr>
              <a:tr h="1369285">
                <a:tc>
                  <a:txBody>
                    <a:bodyPr/>
                    <a:lstStyle/>
                    <a:p>
                      <a:pPr>
                        <a:buNone/>
                      </a:pPr>
                      <a:r>
                        <a:rPr lang="en-IN" sz="1600" b="1" dirty="0" err="1">
                          <a:latin typeface="Times New Roman" panose="02020603050405020304" pitchFamily="18" charset="0"/>
                          <a:cs typeface="Times New Roman" panose="02020603050405020304" pitchFamily="18" charset="0"/>
                        </a:rPr>
                        <a:t>Momitha</a:t>
                      </a:r>
                      <a:r>
                        <a:rPr lang="en-IN" sz="1600" b="1" dirty="0">
                          <a:latin typeface="Times New Roman" panose="02020603050405020304" pitchFamily="18" charset="0"/>
                          <a:cs typeface="Times New Roman" panose="02020603050405020304" pitchFamily="18" charset="0"/>
                        </a:rPr>
                        <a:t> – Backend Developer</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tc>
                  <a:txBody>
                    <a:bodyPr/>
                    <a:lstStyle/>
                    <a:p>
                      <a:pPr>
                        <a:buNone/>
                      </a:pPr>
                      <a:r>
                        <a:rPr lang="en-IN" sz="1600" dirty="0">
                          <a:latin typeface="Times New Roman" panose="02020603050405020304" pitchFamily="18" charset="0"/>
                          <a:cs typeface="Times New Roman" panose="02020603050405020304" pitchFamily="18" charset="0"/>
                        </a:rPr>
                        <a:t>Application/Backend Code</a:t>
                      </a:r>
                    </a:p>
                  </a:txBody>
                  <a:tcPr marL="48442" marR="48442" marT="24221" marB="24221" anchor="ctr"/>
                </a:tc>
                <a:tc>
                  <a:txBody>
                    <a:bodyPr/>
                    <a:lstStyle/>
                    <a:p>
                      <a:pPr>
                        <a:buNone/>
                      </a:pPr>
                      <a:r>
                        <a:rPr lang="en-IN" sz="1600" dirty="0"/>
                        <a:t>Develop backend logic, connect application with database, implement features</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extLst>
                  <a:ext uri="{0D108BD9-81ED-4DB2-BD59-A6C34878D82A}">
                    <a16:rowId xmlns:a16="http://schemas.microsoft.com/office/drawing/2014/main" val="3814170524"/>
                  </a:ext>
                </a:extLst>
              </a:tr>
              <a:tr h="1152553">
                <a:tc>
                  <a:txBody>
                    <a:bodyPr/>
                    <a:lstStyle/>
                    <a:p>
                      <a:pPr>
                        <a:buNone/>
                      </a:pPr>
                      <a:r>
                        <a:rPr lang="en-IN" sz="1600" b="1" dirty="0">
                          <a:latin typeface="Times New Roman" panose="02020603050405020304" pitchFamily="18" charset="0"/>
                          <a:cs typeface="Times New Roman" panose="02020603050405020304" pitchFamily="18" charset="0"/>
                        </a:rPr>
                        <a:t> Rohith – Documentation &amp; Testing</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tc>
                  <a:txBody>
                    <a:bodyPr/>
                    <a:lstStyle/>
                    <a:p>
                      <a:pPr>
                        <a:buNone/>
                      </a:pPr>
                      <a:r>
                        <a:rPr lang="en-IN" sz="1600" dirty="0">
                          <a:latin typeface="Times New Roman" panose="02020603050405020304" pitchFamily="18" charset="0"/>
                          <a:cs typeface="Times New Roman" panose="02020603050405020304" pitchFamily="18" charset="0"/>
                        </a:rPr>
                        <a:t>Testing &amp; Documentation</a:t>
                      </a:r>
                    </a:p>
                  </a:txBody>
                  <a:tcPr marL="48442" marR="48442" marT="24221" marB="24221" anchor="ctr"/>
                </a:tc>
                <a:tc>
                  <a:txBody>
                    <a:bodyPr/>
                    <a:lstStyle/>
                    <a:p>
                      <a:pPr>
                        <a:buNone/>
                      </a:pPr>
                      <a:r>
                        <a:rPr lang="en-IN" sz="1600" dirty="0"/>
                        <a:t>Test the application, find and report errors, prepare project documentation</a:t>
                      </a:r>
                      <a:endParaRPr lang="en-IN" sz="1600" dirty="0">
                        <a:latin typeface="Times New Roman" panose="02020603050405020304" pitchFamily="18" charset="0"/>
                        <a:cs typeface="Times New Roman" panose="02020603050405020304" pitchFamily="18" charset="0"/>
                      </a:endParaRPr>
                    </a:p>
                  </a:txBody>
                  <a:tcPr marL="48442" marR="48442" marT="24221" marB="24221" anchor="ctr"/>
                </a:tc>
                <a:extLst>
                  <a:ext uri="{0D108BD9-81ED-4DB2-BD59-A6C34878D82A}">
                    <a16:rowId xmlns:a16="http://schemas.microsoft.com/office/drawing/2014/main" val="213189419"/>
                  </a:ext>
                </a:extLst>
              </a:tr>
            </a:tbl>
          </a:graphicData>
        </a:graphic>
      </p:graphicFrame>
    </p:spTree>
    <p:extLst>
      <p:ext uri="{BB962C8B-B14F-4D97-AF65-F5344CB8AC3E}">
        <p14:creationId xmlns:p14="http://schemas.microsoft.com/office/powerpoint/2010/main" val="28006038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2963382" y="281409"/>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DATABASE &amp; CONSTRAINTS</a:t>
            </a:r>
          </a:p>
        </p:txBody>
      </p:sp>
      <p:pic>
        <p:nvPicPr>
          <p:cNvPr id="9" name="Picture 8" descr="AI generated image">
            <a:extLst>
              <a:ext uri="{FF2B5EF4-FFF2-40B4-BE49-F238E27FC236}">
                <a16:creationId xmlns:a16="http://schemas.microsoft.com/office/drawing/2014/main" id="{B5383353-F246-2654-8AC2-7696075A5228}"/>
              </a:ext>
            </a:extLst>
          </p:cNvPr>
          <p:cNvPicPr>
            <a:picLocks noChangeAspect="1"/>
          </p:cNvPicPr>
          <p:nvPr/>
        </p:nvPicPr>
        <p:blipFill>
          <a:blip r:embed="rId6"/>
          <a:stretch>
            <a:fillRect/>
          </a:stretch>
        </p:blipFill>
        <p:spPr>
          <a:xfrm>
            <a:off x="420689" y="1314007"/>
            <a:ext cx="9511057" cy="5308497"/>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3"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566881" y="-182676"/>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4"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5"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6"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2940968" y="30514"/>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8" name="TextBox 7">
            <a:extLst>
              <a:ext uri="{FF2B5EF4-FFF2-40B4-BE49-F238E27FC236}">
                <a16:creationId xmlns:a16="http://schemas.microsoft.com/office/drawing/2014/main" id="{F893892B-F78B-F4AB-A7D1-4EEA91F66DD6}"/>
              </a:ext>
            </a:extLst>
          </p:cNvPr>
          <p:cNvSpPr txBox="1"/>
          <p:nvPr/>
        </p:nvSpPr>
        <p:spPr>
          <a:xfrm>
            <a:off x="87973" y="619739"/>
            <a:ext cx="4903667" cy="7201972"/>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1. Department</a:t>
            </a:r>
          </a:p>
          <a:p>
            <a:pPr rtl="0"/>
            <a:r>
              <a:rPr lang="en-IN" sz="1400" dirty="0">
                <a:latin typeface="Times New Roman" panose="02020603050405020304" pitchFamily="18" charset="0"/>
                <a:cs typeface="Times New Roman" panose="02020603050405020304" pitchFamily="18" charset="0"/>
              </a:rPr>
              <a:t>INSERT INTO Department</a:t>
            </a:r>
          </a:p>
          <a:p>
            <a:pPr rtl="0"/>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Department_ID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Department_Name</a:t>
            </a:r>
            <a:r>
              <a:rPr lang="en-IN" sz="1400" dirty="0">
                <a:latin typeface="Times New Roman" panose="02020603050405020304" pitchFamily="18" charset="0"/>
                <a:cs typeface="Times New Roman" panose="02020603050405020304" pitchFamily="18" charset="0"/>
              </a:rPr>
              <a:t>, Location)</a:t>
            </a:r>
          </a:p>
          <a:p>
            <a:pPr rtl="0"/>
            <a:r>
              <a:rPr lang="en-IN" sz="1400" dirty="0">
                <a:latin typeface="Times New Roman" panose="02020603050405020304" pitchFamily="18" charset="0"/>
                <a:cs typeface="Times New Roman" panose="02020603050405020304" pitchFamily="18" charset="0"/>
              </a:rPr>
              <a:t>VALUES</a:t>
            </a:r>
          </a:p>
          <a:p>
            <a:pPr rtl="0"/>
            <a:r>
              <a:rPr lang="en-IN" sz="1400" dirty="0">
                <a:latin typeface="Times New Roman" panose="02020603050405020304" pitchFamily="18" charset="0"/>
                <a:cs typeface="Times New Roman" panose="02020603050405020304" pitchFamily="18" charset="0"/>
              </a:rPr>
              <a:t>(1, 'Cardiology', 'Block A'),</a:t>
            </a:r>
          </a:p>
          <a:p>
            <a:pPr rtl="0"/>
            <a:r>
              <a:rPr lang="en-IN" sz="1400" dirty="0">
                <a:latin typeface="Times New Roman" panose="02020603050405020304" pitchFamily="18" charset="0"/>
                <a:cs typeface="Times New Roman" panose="02020603050405020304" pitchFamily="18" charset="0"/>
              </a:rPr>
              <a:t>(2, 'Neurology', 'Block B'),</a:t>
            </a:r>
          </a:p>
          <a:p>
            <a:pPr rtl="0"/>
            <a:r>
              <a:rPr lang="en-IN" sz="1400" dirty="0">
                <a:latin typeface="Times New Roman" panose="02020603050405020304" pitchFamily="18" charset="0"/>
                <a:cs typeface="Times New Roman" panose="02020603050405020304" pitchFamily="18" charset="0"/>
              </a:rPr>
              <a:t>(3, '</a:t>
            </a:r>
            <a:r>
              <a:rPr lang="en-IN" sz="1400" dirty="0" err="1">
                <a:latin typeface="Times New Roman" panose="02020603050405020304" pitchFamily="18" charset="0"/>
                <a:cs typeface="Times New Roman" panose="02020603050405020304" pitchFamily="18" charset="0"/>
              </a:rPr>
              <a:t>Orthopedics</a:t>
            </a:r>
            <a:r>
              <a:rPr lang="en-IN" sz="1400" dirty="0">
                <a:latin typeface="Times New Roman" panose="02020603050405020304" pitchFamily="18" charset="0"/>
                <a:cs typeface="Times New Roman" panose="02020603050405020304" pitchFamily="18" charset="0"/>
              </a:rPr>
              <a:t>', 'Block C');</a:t>
            </a:r>
          </a:p>
          <a:p>
            <a:r>
              <a:rPr lang="en-IN" sz="1400" b="1" dirty="0">
                <a:latin typeface="Times New Roman" panose="02020603050405020304" pitchFamily="18" charset="0"/>
                <a:cs typeface="Times New Roman" panose="02020603050405020304" pitchFamily="18" charset="0"/>
              </a:rPr>
              <a:t>2. Patient</a:t>
            </a:r>
          </a:p>
          <a:p>
            <a:pPr rtl="0"/>
            <a:r>
              <a:rPr lang="en-IN" sz="1400" dirty="0">
                <a:latin typeface="Times New Roman" panose="02020603050405020304" pitchFamily="18" charset="0"/>
                <a:cs typeface="Times New Roman" panose="02020603050405020304" pitchFamily="18" charset="0"/>
              </a:rPr>
              <a:t>INSERT INTO Patient</a:t>
            </a:r>
          </a:p>
          <a:p>
            <a:pPr rtl="0"/>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Patient_ID</a:t>
            </a:r>
            <a:r>
              <a:rPr lang="en-IN" sz="1400" dirty="0">
                <a:latin typeface="Times New Roman" panose="02020603050405020304" pitchFamily="18" charset="0"/>
                <a:cs typeface="Times New Roman" panose="02020603050405020304" pitchFamily="18" charset="0"/>
              </a:rPr>
              <a:t>, Name, Age, Gender, Phone, Address, </a:t>
            </a:r>
            <a:r>
              <a:rPr lang="en-IN" sz="1400" dirty="0" err="1">
                <a:latin typeface="Times New Roman" panose="02020603050405020304" pitchFamily="18" charset="0"/>
                <a:cs typeface="Times New Roman" panose="02020603050405020304" pitchFamily="18" charset="0"/>
              </a:rPr>
              <a:t>Blood_Group</a:t>
            </a:r>
            <a:r>
              <a:rPr lang="en-IN" sz="1400" dirty="0">
                <a:latin typeface="Times New Roman" panose="02020603050405020304" pitchFamily="18" charset="0"/>
                <a:cs typeface="Times New Roman" panose="02020603050405020304" pitchFamily="18" charset="0"/>
              </a:rPr>
              <a:t>)</a:t>
            </a:r>
          </a:p>
          <a:p>
            <a:pPr rtl="0"/>
            <a:r>
              <a:rPr lang="en-IN" sz="1400" dirty="0">
                <a:latin typeface="Times New Roman" panose="02020603050405020304" pitchFamily="18" charset="0"/>
                <a:cs typeface="Times New Roman" panose="02020603050405020304" pitchFamily="18" charset="0"/>
              </a:rPr>
              <a:t>VALUES</a:t>
            </a:r>
          </a:p>
          <a:p>
            <a:pPr rtl="0"/>
            <a:r>
              <a:rPr lang="en-IN" sz="1400" dirty="0">
                <a:latin typeface="Times New Roman" panose="02020603050405020304" pitchFamily="18" charset="0"/>
                <a:cs typeface="Times New Roman" panose="02020603050405020304" pitchFamily="18" charset="0"/>
              </a:rPr>
              <a:t>(101, 'Ramadevi', 21, 'Female', '9876543210', 'Kakinada', 'O+'),</a:t>
            </a:r>
          </a:p>
          <a:p>
            <a:pPr rtl="0"/>
            <a:r>
              <a:rPr lang="en-IN" sz="1400" dirty="0">
                <a:latin typeface="Times New Roman" panose="02020603050405020304" pitchFamily="18" charset="0"/>
                <a:cs typeface="Times New Roman" panose="02020603050405020304" pitchFamily="18" charset="0"/>
              </a:rPr>
              <a:t>(102, 'Srujana', 22, 'Female', '9876543211', 'Rajahmundry', 'A+'),</a:t>
            </a:r>
          </a:p>
          <a:p>
            <a:pPr rtl="0"/>
            <a:r>
              <a:rPr lang="en-IN" sz="1400" dirty="0">
                <a:latin typeface="Times New Roman" panose="02020603050405020304" pitchFamily="18" charset="0"/>
                <a:cs typeface="Times New Roman" panose="02020603050405020304" pitchFamily="18" charset="0"/>
              </a:rPr>
              <a:t>(103, 'Rahul', 25, 'Male', '9876543212', 'Vijayawada', 'B+');</a:t>
            </a:r>
          </a:p>
          <a:p>
            <a:r>
              <a:rPr lang="en-IN" sz="1400" b="1" dirty="0">
                <a:latin typeface="Times New Roman" panose="02020603050405020304" pitchFamily="18" charset="0"/>
                <a:cs typeface="Times New Roman" panose="02020603050405020304" pitchFamily="18" charset="0"/>
              </a:rPr>
              <a:t>3. Doctor</a:t>
            </a:r>
          </a:p>
          <a:p>
            <a:pPr rtl="0"/>
            <a:r>
              <a:rPr lang="en-IN" sz="1400" dirty="0">
                <a:latin typeface="Times New Roman" panose="02020603050405020304" pitchFamily="18" charset="0"/>
                <a:cs typeface="Times New Roman" panose="02020603050405020304" pitchFamily="18" charset="0"/>
              </a:rPr>
              <a:t>INSERT INTO Doctor</a:t>
            </a:r>
          </a:p>
          <a:p>
            <a:pPr rtl="0"/>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Doctor_ID</a:t>
            </a:r>
            <a:r>
              <a:rPr lang="en-IN" sz="1400" dirty="0">
                <a:latin typeface="Times New Roman" panose="02020603050405020304" pitchFamily="18" charset="0"/>
                <a:cs typeface="Times New Roman" panose="02020603050405020304" pitchFamily="18" charset="0"/>
              </a:rPr>
              <a:t>, Name, Specialization, Phone, Email, </a:t>
            </a:r>
            <a:r>
              <a:rPr lang="en-IN" sz="1400" dirty="0" err="1">
                <a:latin typeface="Times New Roman" panose="02020603050405020304" pitchFamily="18" charset="0"/>
                <a:cs typeface="Times New Roman" panose="02020603050405020304" pitchFamily="18" charset="0"/>
              </a:rPr>
              <a:t>Department_ID</a:t>
            </a:r>
            <a:r>
              <a:rPr lang="en-IN" sz="1400" dirty="0">
                <a:latin typeface="Times New Roman" panose="02020603050405020304" pitchFamily="18" charset="0"/>
                <a:cs typeface="Times New Roman" panose="02020603050405020304" pitchFamily="18" charset="0"/>
              </a:rPr>
              <a:t>)</a:t>
            </a:r>
          </a:p>
          <a:p>
            <a:pPr rtl="0"/>
            <a:r>
              <a:rPr lang="en-IN" sz="1400" dirty="0">
                <a:latin typeface="Times New Roman" panose="02020603050405020304" pitchFamily="18" charset="0"/>
                <a:cs typeface="Times New Roman" panose="02020603050405020304" pitchFamily="18" charset="0"/>
              </a:rPr>
              <a:t>VALUES</a:t>
            </a:r>
          </a:p>
          <a:p>
            <a:pPr rtl="0"/>
            <a:r>
              <a:rPr lang="en-IN" sz="1400" dirty="0">
                <a:latin typeface="Times New Roman" panose="02020603050405020304" pitchFamily="18" charset="0"/>
                <a:cs typeface="Times New Roman" panose="02020603050405020304" pitchFamily="18" charset="0"/>
              </a:rPr>
              <a:t>(201, 'Dr. Anil', 'Cardiologist', '9876500011', 'anil@hospital.com', 1),</a:t>
            </a:r>
          </a:p>
          <a:p>
            <a:pPr rtl="0"/>
            <a:r>
              <a:rPr lang="en-IN" sz="1400" dirty="0">
                <a:latin typeface="Times New Roman" panose="02020603050405020304" pitchFamily="18" charset="0"/>
                <a:cs typeface="Times New Roman" panose="02020603050405020304" pitchFamily="18" charset="0"/>
              </a:rPr>
              <a:t>(202, 'Dr. Priya', 'Neurologist', '9876500012', 'priya@hospital.com', 2),</a:t>
            </a:r>
          </a:p>
          <a:p>
            <a:pPr rtl="0"/>
            <a:r>
              <a:rPr lang="en-IN" sz="1400" dirty="0">
                <a:latin typeface="Times New Roman" panose="02020603050405020304" pitchFamily="18" charset="0"/>
                <a:cs typeface="Times New Roman" panose="02020603050405020304" pitchFamily="18" charset="0"/>
              </a:rPr>
              <a:t>(203, 'Dr. Kumar', '</a:t>
            </a:r>
            <a:r>
              <a:rPr lang="en-IN" sz="1400" dirty="0" err="1">
                <a:latin typeface="Times New Roman" panose="02020603050405020304" pitchFamily="18" charset="0"/>
                <a:cs typeface="Times New Roman" panose="02020603050405020304" pitchFamily="18" charset="0"/>
              </a:rPr>
              <a:t>Orthopedic</a:t>
            </a:r>
            <a:r>
              <a:rPr lang="en-IN" sz="1400" dirty="0">
                <a:latin typeface="Times New Roman" panose="02020603050405020304" pitchFamily="18" charset="0"/>
                <a:cs typeface="Times New Roman" panose="02020603050405020304" pitchFamily="18" charset="0"/>
              </a:rPr>
              <a:t>', '9876500013', 'kumar@hospital.com', 3);</a:t>
            </a:r>
          </a:p>
          <a:p>
            <a:r>
              <a:rPr lang="en-IN" sz="1400" b="1" dirty="0">
                <a:latin typeface="Times New Roman" panose="02020603050405020304" pitchFamily="18" charset="0"/>
                <a:cs typeface="Times New Roman" panose="02020603050405020304" pitchFamily="18" charset="0"/>
              </a:rPr>
              <a:t>4. Appointment</a:t>
            </a:r>
          </a:p>
          <a:p>
            <a:pPr rtl="0"/>
            <a:r>
              <a:rPr lang="en-IN" sz="1400" dirty="0">
                <a:latin typeface="Times New Roman" panose="02020603050405020304" pitchFamily="18" charset="0"/>
                <a:cs typeface="Times New Roman" panose="02020603050405020304" pitchFamily="18" charset="0"/>
              </a:rPr>
              <a:t>INSERT INTO Appointment</a:t>
            </a:r>
          </a:p>
          <a:p>
            <a:pPr rtl="0"/>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Appointment_ID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Patient_ID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Doctor_ID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Appointment_Date</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Appointment_Time</a:t>
            </a:r>
            <a:r>
              <a:rPr lang="en-IN" sz="1400" dirty="0">
                <a:latin typeface="Times New Roman" panose="02020603050405020304" pitchFamily="18" charset="0"/>
                <a:cs typeface="Times New Roman" panose="02020603050405020304" pitchFamily="18" charset="0"/>
              </a:rPr>
              <a:t>, Status)</a:t>
            </a:r>
          </a:p>
          <a:p>
            <a:pPr rtl="0"/>
            <a:r>
              <a:rPr lang="en-IN" sz="1400" dirty="0">
                <a:latin typeface="Times New Roman" panose="02020603050405020304" pitchFamily="18" charset="0"/>
                <a:cs typeface="Times New Roman" panose="02020603050405020304" pitchFamily="18" charset="0"/>
              </a:rPr>
              <a:t>VALUES</a:t>
            </a:r>
          </a:p>
          <a:p>
            <a:pPr rtl="0"/>
            <a:r>
              <a:rPr lang="en-IN" sz="1400" dirty="0">
                <a:latin typeface="Times New Roman" panose="02020603050405020304" pitchFamily="18" charset="0"/>
                <a:cs typeface="Times New Roman" panose="02020603050405020304" pitchFamily="18" charset="0"/>
              </a:rPr>
              <a:t>(301, 101, 201, '2026-09-20', '10:00:00', 'Scheduled'),</a:t>
            </a:r>
          </a:p>
          <a:p>
            <a:pPr rtl="0"/>
            <a:r>
              <a:rPr lang="en-IN" sz="1400" dirty="0">
                <a:latin typeface="Times New Roman" panose="02020603050405020304" pitchFamily="18" charset="0"/>
                <a:cs typeface="Times New Roman" panose="02020603050405020304" pitchFamily="18" charset="0"/>
              </a:rPr>
              <a:t>(302, 102, 202, '2026-09-21', '11:30:00', 'Completed'),</a:t>
            </a:r>
          </a:p>
          <a:p>
            <a:pPr rtl="0"/>
            <a:r>
              <a:rPr lang="en-IN" sz="1400" dirty="0">
                <a:latin typeface="Times New Roman" panose="02020603050405020304" pitchFamily="18" charset="0"/>
                <a:cs typeface="Times New Roman" panose="02020603050405020304" pitchFamily="18" charset="0"/>
              </a:rPr>
              <a:t>(303, 103, 203, '2026-09-22', '14:00:00', 'Scheduled');</a:t>
            </a:r>
          </a:p>
        </p:txBody>
      </p:sp>
      <p:sp>
        <p:nvSpPr>
          <p:cNvPr id="12" name="TextBox 11">
            <a:extLst>
              <a:ext uri="{FF2B5EF4-FFF2-40B4-BE49-F238E27FC236}">
                <a16:creationId xmlns:a16="http://schemas.microsoft.com/office/drawing/2014/main" id="{D2196FBF-39A8-98AA-C2D0-EFE3F6D1C441}"/>
              </a:ext>
            </a:extLst>
          </p:cNvPr>
          <p:cNvSpPr txBox="1"/>
          <p:nvPr/>
        </p:nvSpPr>
        <p:spPr>
          <a:xfrm>
            <a:off x="4870195" y="628649"/>
            <a:ext cx="5498919" cy="7417415"/>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5. Admission</a:t>
            </a:r>
          </a:p>
          <a:p>
            <a:pPr rtl="0"/>
            <a:r>
              <a:rPr lang="en-IN" sz="1400" dirty="0">
                <a:latin typeface="Times New Roman" panose="02020603050405020304" pitchFamily="18" charset="0"/>
                <a:cs typeface="Times New Roman" panose="02020603050405020304" pitchFamily="18" charset="0"/>
              </a:rPr>
              <a:t>INSERT INTO Admission</a:t>
            </a:r>
          </a:p>
          <a:p>
            <a:pPr rtl="0"/>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Admission_ID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Patient_ID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Room_No</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Admission_Date</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Discharge_Date</a:t>
            </a:r>
            <a:r>
              <a:rPr lang="en-IN" sz="1400" dirty="0">
                <a:latin typeface="Times New Roman" panose="02020603050405020304" pitchFamily="18" charset="0"/>
                <a:cs typeface="Times New Roman" panose="02020603050405020304" pitchFamily="18" charset="0"/>
              </a:rPr>
              <a:t>)</a:t>
            </a:r>
          </a:p>
          <a:p>
            <a:pPr rtl="0"/>
            <a:r>
              <a:rPr lang="en-IN" sz="1400" dirty="0">
                <a:latin typeface="Times New Roman" panose="02020603050405020304" pitchFamily="18" charset="0"/>
                <a:cs typeface="Times New Roman" panose="02020603050405020304" pitchFamily="18" charset="0"/>
              </a:rPr>
              <a:t>VALUES</a:t>
            </a:r>
          </a:p>
          <a:p>
            <a:pPr rtl="0"/>
            <a:r>
              <a:rPr lang="en-IN" sz="1400" dirty="0">
                <a:latin typeface="Times New Roman" panose="02020603050405020304" pitchFamily="18" charset="0"/>
                <a:cs typeface="Times New Roman" panose="02020603050405020304" pitchFamily="18" charset="0"/>
              </a:rPr>
              <a:t>(401, 101, 'A101', '2026-09-18', NULL),</a:t>
            </a:r>
          </a:p>
          <a:p>
            <a:pPr rtl="0"/>
            <a:r>
              <a:rPr lang="en-IN" sz="1400" dirty="0">
                <a:latin typeface="Times New Roman" panose="02020603050405020304" pitchFamily="18" charset="0"/>
                <a:cs typeface="Times New Roman" panose="02020603050405020304" pitchFamily="18" charset="0"/>
              </a:rPr>
              <a:t>(402, 102, 'B205', '2026-09-19', NULL);</a:t>
            </a:r>
          </a:p>
          <a:p>
            <a:r>
              <a:rPr lang="en-IN" sz="1400" b="1" dirty="0">
                <a:latin typeface="Times New Roman" panose="02020603050405020304" pitchFamily="18" charset="0"/>
                <a:cs typeface="Times New Roman" panose="02020603050405020304" pitchFamily="18" charset="0"/>
              </a:rPr>
              <a:t>6. Treatment</a:t>
            </a:r>
          </a:p>
          <a:p>
            <a:pPr rtl="0"/>
            <a:r>
              <a:rPr lang="en-IN" sz="1400" dirty="0">
                <a:latin typeface="Times New Roman" panose="02020603050405020304" pitchFamily="18" charset="0"/>
                <a:cs typeface="Times New Roman" panose="02020603050405020304" pitchFamily="18" charset="0"/>
              </a:rPr>
              <a:t>INSERT INTO Treatment</a:t>
            </a:r>
          </a:p>
          <a:p>
            <a:pPr rtl="0"/>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Treatment_ID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Patient_ID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Doctor_ID</a:t>
            </a:r>
            <a:r>
              <a:rPr lang="en-IN" sz="1400" dirty="0">
                <a:latin typeface="Times New Roman" panose="02020603050405020304" pitchFamily="18" charset="0"/>
                <a:cs typeface="Times New Roman" panose="02020603050405020304" pitchFamily="18" charset="0"/>
              </a:rPr>
              <a:t>, Diagnosis, </a:t>
            </a:r>
            <a:r>
              <a:rPr lang="en-IN" sz="1400" dirty="0" err="1">
                <a:latin typeface="Times New Roman" panose="02020603050405020304" pitchFamily="18" charset="0"/>
                <a:cs typeface="Times New Roman" panose="02020603050405020304" pitchFamily="18" charset="0"/>
              </a:rPr>
              <a:t>Treatment_Date</a:t>
            </a:r>
            <a:r>
              <a:rPr lang="en-IN" sz="1400" dirty="0">
                <a:latin typeface="Times New Roman" panose="02020603050405020304" pitchFamily="18" charset="0"/>
                <a:cs typeface="Times New Roman" panose="02020603050405020304" pitchFamily="18" charset="0"/>
              </a:rPr>
              <a:t>, Description)</a:t>
            </a:r>
          </a:p>
          <a:p>
            <a:pPr rtl="0"/>
            <a:r>
              <a:rPr lang="en-IN" sz="1400" dirty="0">
                <a:latin typeface="Times New Roman" panose="02020603050405020304" pitchFamily="18" charset="0"/>
                <a:cs typeface="Times New Roman" panose="02020603050405020304" pitchFamily="18" charset="0"/>
              </a:rPr>
              <a:t>VALUES</a:t>
            </a:r>
          </a:p>
          <a:p>
            <a:pPr rtl="0"/>
            <a:r>
              <a:rPr lang="en-IN" sz="1400" dirty="0">
                <a:latin typeface="Times New Roman" panose="02020603050405020304" pitchFamily="18" charset="0"/>
                <a:cs typeface="Times New Roman" panose="02020603050405020304" pitchFamily="18" charset="0"/>
              </a:rPr>
              <a:t>(501, 101, 201, 'Heart Checkup', '2026-09-20',</a:t>
            </a:r>
          </a:p>
          <a:p>
            <a:pPr rtl="0"/>
            <a:r>
              <a:rPr lang="en-IN" sz="1400" dirty="0">
                <a:latin typeface="Times New Roman" panose="02020603050405020304" pitchFamily="18" charset="0"/>
                <a:cs typeface="Times New Roman" panose="02020603050405020304" pitchFamily="18" charset="0"/>
              </a:rPr>
              <a:t> 'Routine cardiac examination'),</a:t>
            </a:r>
          </a:p>
          <a:p>
            <a:pPr rtl="0"/>
            <a:r>
              <a:rPr lang="en-IN" sz="1400" dirty="0">
                <a:latin typeface="Times New Roman" panose="02020603050405020304" pitchFamily="18" charset="0"/>
                <a:cs typeface="Times New Roman" panose="02020603050405020304" pitchFamily="18" charset="0"/>
              </a:rPr>
              <a:t>(502, 102, 202, 'Migraine', '2026-09-21',</a:t>
            </a:r>
          </a:p>
          <a:p>
            <a:pPr rtl="0"/>
            <a:r>
              <a:rPr lang="en-IN" sz="1400" dirty="0">
                <a:latin typeface="Times New Roman" panose="02020603050405020304" pitchFamily="18" charset="0"/>
                <a:cs typeface="Times New Roman" panose="02020603050405020304" pitchFamily="18" charset="0"/>
              </a:rPr>
              <a:t> 'Medication prescribed'),</a:t>
            </a:r>
          </a:p>
          <a:p>
            <a:pPr rtl="0"/>
            <a:r>
              <a:rPr lang="en-IN" sz="1400" dirty="0">
                <a:latin typeface="Times New Roman" panose="02020603050405020304" pitchFamily="18" charset="0"/>
                <a:cs typeface="Times New Roman" panose="02020603050405020304" pitchFamily="18" charset="0"/>
              </a:rPr>
              <a:t>(503, 103, 203, 'Knee Pain', '2026-09-22',</a:t>
            </a:r>
          </a:p>
          <a:p>
            <a:pPr rtl="0"/>
            <a:r>
              <a:rPr lang="en-IN" sz="1400" dirty="0">
                <a:latin typeface="Times New Roman" panose="02020603050405020304" pitchFamily="18" charset="0"/>
                <a:cs typeface="Times New Roman" panose="02020603050405020304" pitchFamily="18" charset="0"/>
              </a:rPr>
              <a:t> 'Physiotherapy recommended');</a:t>
            </a:r>
          </a:p>
          <a:p>
            <a:r>
              <a:rPr lang="en-IN" sz="1400" b="1" dirty="0">
                <a:latin typeface="Times New Roman" panose="02020603050405020304" pitchFamily="18" charset="0"/>
                <a:cs typeface="Times New Roman" panose="02020603050405020304" pitchFamily="18" charset="0"/>
              </a:rPr>
              <a:t>7. Medicine</a:t>
            </a:r>
          </a:p>
          <a:p>
            <a:pPr rtl="0"/>
            <a:r>
              <a:rPr lang="en-IN" sz="1400" dirty="0">
                <a:latin typeface="Times New Roman" panose="02020603050405020304" pitchFamily="18" charset="0"/>
                <a:cs typeface="Times New Roman" panose="02020603050405020304" pitchFamily="18" charset="0"/>
              </a:rPr>
              <a:t>INSERT INTO Medicine</a:t>
            </a:r>
          </a:p>
          <a:p>
            <a:pPr rtl="0"/>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Medicine_ID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Medicine_Name</a:t>
            </a:r>
            <a:r>
              <a:rPr lang="en-IN" sz="1400" dirty="0">
                <a:latin typeface="Times New Roman" panose="02020603050405020304" pitchFamily="18" charset="0"/>
                <a:cs typeface="Times New Roman" panose="02020603050405020304" pitchFamily="18" charset="0"/>
              </a:rPr>
              <a:t>, Quantity, Price)</a:t>
            </a:r>
          </a:p>
          <a:p>
            <a:pPr rtl="0"/>
            <a:r>
              <a:rPr lang="en-IN" sz="1400" dirty="0">
                <a:latin typeface="Times New Roman" panose="02020603050405020304" pitchFamily="18" charset="0"/>
                <a:cs typeface="Times New Roman" panose="02020603050405020304" pitchFamily="18" charset="0"/>
              </a:rPr>
              <a:t>VALUES</a:t>
            </a:r>
          </a:p>
          <a:p>
            <a:pPr rtl="0"/>
            <a:r>
              <a:rPr lang="en-IN" sz="1400" dirty="0">
                <a:latin typeface="Times New Roman" panose="02020603050405020304" pitchFamily="18" charset="0"/>
                <a:cs typeface="Times New Roman" panose="02020603050405020304" pitchFamily="18" charset="0"/>
              </a:rPr>
              <a:t>(601, 'Paracetamol', 100, 5.00),</a:t>
            </a:r>
          </a:p>
          <a:p>
            <a:pPr rtl="0"/>
            <a:r>
              <a:rPr lang="en-IN" sz="1400" dirty="0">
                <a:latin typeface="Times New Roman" panose="02020603050405020304" pitchFamily="18" charset="0"/>
                <a:cs typeface="Times New Roman" panose="02020603050405020304" pitchFamily="18" charset="0"/>
              </a:rPr>
              <a:t>(602, 'Amoxicillin', 50, 12.00),</a:t>
            </a:r>
          </a:p>
          <a:p>
            <a:pPr rtl="0"/>
            <a:r>
              <a:rPr lang="en-IN" sz="1400" dirty="0">
                <a:latin typeface="Times New Roman" panose="02020603050405020304" pitchFamily="18" charset="0"/>
                <a:cs typeface="Times New Roman" panose="02020603050405020304" pitchFamily="18" charset="0"/>
              </a:rPr>
              <a:t>(603, 'Ibuprofen', 75, 8.00);</a:t>
            </a:r>
          </a:p>
          <a:p>
            <a:r>
              <a:rPr lang="en-IN" sz="1400" b="1" dirty="0">
                <a:latin typeface="Times New Roman" panose="02020603050405020304" pitchFamily="18" charset="0"/>
                <a:cs typeface="Times New Roman" panose="02020603050405020304" pitchFamily="18" charset="0"/>
              </a:rPr>
              <a:t>8. Bill</a:t>
            </a:r>
          </a:p>
          <a:p>
            <a:pPr rtl="0"/>
            <a:r>
              <a:rPr lang="en-IN" sz="1400" dirty="0">
                <a:latin typeface="Times New Roman" panose="02020603050405020304" pitchFamily="18" charset="0"/>
                <a:cs typeface="Times New Roman" panose="02020603050405020304" pitchFamily="18" charset="0"/>
              </a:rPr>
              <a:t>INSERT INTO Bill</a:t>
            </a:r>
          </a:p>
          <a:p>
            <a:pPr rtl="0"/>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Bill_ID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Patient_ID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Bill_Date</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Treatment_Charge</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Medicine_Charge</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Total_Amount</a:t>
            </a:r>
            <a:r>
              <a:rPr lang="en-IN" sz="1400" dirty="0">
                <a:latin typeface="Times New Roman" panose="02020603050405020304" pitchFamily="18" charset="0"/>
                <a:cs typeface="Times New Roman" panose="02020603050405020304" pitchFamily="18" charset="0"/>
              </a:rPr>
              <a:t>)</a:t>
            </a:r>
          </a:p>
          <a:p>
            <a:pPr rtl="0"/>
            <a:r>
              <a:rPr lang="en-IN" sz="1400" dirty="0">
                <a:latin typeface="Times New Roman" panose="02020603050405020304" pitchFamily="18" charset="0"/>
                <a:cs typeface="Times New Roman" panose="02020603050405020304" pitchFamily="18" charset="0"/>
              </a:rPr>
              <a:t>VALUES</a:t>
            </a:r>
          </a:p>
          <a:p>
            <a:pPr rtl="0"/>
            <a:r>
              <a:rPr lang="en-IN" sz="1400" dirty="0">
                <a:latin typeface="Times New Roman" panose="02020603050405020304" pitchFamily="18" charset="0"/>
                <a:cs typeface="Times New Roman" panose="02020603050405020304" pitchFamily="18" charset="0"/>
              </a:rPr>
              <a:t>(701, 101, '2026-09-20', 1500.00, 250.00, 1750.00),</a:t>
            </a:r>
          </a:p>
          <a:p>
            <a:pPr rtl="0"/>
            <a:r>
              <a:rPr lang="en-IN" sz="1400" dirty="0">
                <a:latin typeface="Times New Roman" panose="02020603050405020304" pitchFamily="18" charset="0"/>
                <a:cs typeface="Times New Roman" panose="02020603050405020304" pitchFamily="18" charset="0"/>
              </a:rPr>
              <a:t>(702, 102, '2026-09-21', 1200.00, 180.00, 1380.00),</a:t>
            </a:r>
          </a:p>
          <a:p>
            <a:pPr rtl="0"/>
            <a:r>
              <a:rPr lang="en-IN" sz="1400" dirty="0">
                <a:latin typeface="Times New Roman" panose="02020603050405020304" pitchFamily="18" charset="0"/>
                <a:cs typeface="Times New Roman" panose="02020603050405020304" pitchFamily="18" charset="0"/>
              </a:rPr>
              <a:t>(703, 103, '2026-09-22', 1000.00, 150.00, 1150.00);</a:t>
            </a: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075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3"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4"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5"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6"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2847737" y="298198"/>
            <a:ext cx="5029200" cy="430887"/>
          </a:xfrm>
          <a:prstGeom prst="rect">
            <a:avLst/>
          </a:prstGeom>
          <a:noFill/>
        </p:spPr>
        <p:txBody>
          <a:bodyPr wrap="square">
            <a:spAutoFit/>
          </a:bodyPr>
          <a:lstStyle/>
          <a:p>
            <a:r>
              <a:rPr lang="en-IN" sz="2200" b="1" dirty="0">
                <a:solidFill>
                  <a:schemeClr val="bg1"/>
                </a:solidFill>
                <a:latin typeface="Times New Roman" panose="02020603050405020304" pitchFamily="18" charset="0"/>
                <a:cs typeface="Times New Roman" panose="02020603050405020304" pitchFamily="18" charset="0"/>
              </a:rPr>
              <a:t>DDL, DML &amp; DQL OPERATIONS</a:t>
            </a:r>
          </a:p>
        </p:txBody>
      </p:sp>
      <p:pic>
        <p:nvPicPr>
          <p:cNvPr id="8" name="Picture 7" descr="AI generated image">
            <a:extLst>
              <a:ext uri="{FF2B5EF4-FFF2-40B4-BE49-F238E27FC236}">
                <a16:creationId xmlns:a16="http://schemas.microsoft.com/office/drawing/2014/main" id="{8456E545-717A-1751-457F-CEF0210A59D3}"/>
              </a:ext>
            </a:extLst>
          </p:cNvPr>
          <p:cNvPicPr>
            <a:picLocks noChangeAspect="1"/>
          </p:cNvPicPr>
          <p:nvPr/>
        </p:nvPicPr>
        <p:blipFill>
          <a:blip r:embed="rId7"/>
          <a:stretch>
            <a:fillRect/>
          </a:stretch>
        </p:blipFill>
        <p:spPr>
          <a:xfrm>
            <a:off x="276208" y="1017165"/>
            <a:ext cx="9655538" cy="6253412"/>
          </a:xfrm>
          <a:prstGeom prst="rect">
            <a:avLst/>
          </a:prstGeom>
        </p:spPr>
      </p:pic>
    </p:spTree>
    <p:extLst>
      <p:ext uri="{BB962C8B-B14F-4D97-AF65-F5344CB8AC3E}">
        <p14:creationId xmlns:p14="http://schemas.microsoft.com/office/powerpoint/2010/main" val="552543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301008" y="281409"/>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CRUD &amp; SQL QUERIES</a:t>
            </a:r>
          </a:p>
        </p:txBody>
      </p:sp>
      <p:pic>
        <p:nvPicPr>
          <p:cNvPr id="8" name="Picture 7" descr="AI generated image">
            <a:extLst>
              <a:ext uri="{FF2B5EF4-FFF2-40B4-BE49-F238E27FC236}">
                <a16:creationId xmlns:a16="http://schemas.microsoft.com/office/drawing/2014/main" id="{E2404B36-261B-CEBB-D676-8F37A6D08C10}"/>
              </a:ext>
            </a:extLst>
          </p:cNvPr>
          <p:cNvPicPr>
            <a:picLocks noChangeAspect="1"/>
          </p:cNvPicPr>
          <p:nvPr/>
        </p:nvPicPr>
        <p:blipFill>
          <a:blip r:embed="rId6"/>
          <a:stretch>
            <a:fillRect/>
          </a:stretch>
        </p:blipFill>
        <p:spPr>
          <a:xfrm>
            <a:off x="198122" y="1189897"/>
            <a:ext cx="9662155" cy="6053998"/>
          </a:xfrm>
          <a:prstGeom prst="rect">
            <a:avLst/>
          </a:prstGeom>
        </p:spPr>
      </p:pic>
    </p:spTree>
    <p:extLst>
      <p:ext uri="{BB962C8B-B14F-4D97-AF65-F5344CB8AC3E}">
        <p14:creationId xmlns:p14="http://schemas.microsoft.com/office/powerpoint/2010/main" val="4218948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31741" y="114583"/>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2998641" y="350327"/>
            <a:ext cx="5029200" cy="400110"/>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DATA INTEGRITY &amp; VALIDATION</a:t>
            </a:r>
          </a:p>
        </p:txBody>
      </p:sp>
      <p:pic>
        <p:nvPicPr>
          <p:cNvPr id="8" name="Picture 7" descr="AI generated image">
            <a:extLst>
              <a:ext uri="{FF2B5EF4-FFF2-40B4-BE49-F238E27FC236}">
                <a16:creationId xmlns:a16="http://schemas.microsoft.com/office/drawing/2014/main" id="{865F0790-34B8-FC4C-0981-1E5911025EC4}"/>
              </a:ext>
            </a:extLst>
          </p:cNvPr>
          <p:cNvPicPr>
            <a:picLocks noChangeAspect="1"/>
          </p:cNvPicPr>
          <p:nvPr/>
        </p:nvPicPr>
        <p:blipFill>
          <a:blip r:embed="rId6"/>
          <a:stretch>
            <a:fillRect/>
          </a:stretch>
        </p:blipFill>
        <p:spPr>
          <a:xfrm>
            <a:off x="0" y="1056067"/>
            <a:ext cx="9931745" cy="5688631"/>
          </a:xfrm>
          <a:prstGeom prst="rect">
            <a:avLst/>
          </a:prstGeom>
        </p:spPr>
      </p:pic>
    </p:spTree>
    <p:extLst>
      <p:ext uri="{BB962C8B-B14F-4D97-AF65-F5344CB8AC3E}">
        <p14:creationId xmlns:p14="http://schemas.microsoft.com/office/powerpoint/2010/main" val="3221489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400110"/>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PROJECT DOCUMENTATION</a:t>
            </a:r>
          </a:p>
        </p:txBody>
      </p:sp>
      <p:pic>
        <p:nvPicPr>
          <p:cNvPr id="8" name="Picture 7" descr="AI generated image">
            <a:extLst>
              <a:ext uri="{FF2B5EF4-FFF2-40B4-BE49-F238E27FC236}">
                <a16:creationId xmlns:a16="http://schemas.microsoft.com/office/drawing/2014/main" id="{A2B0EDDB-32A0-8440-1FE1-1A35C125AD54}"/>
              </a:ext>
            </a:extLst>
          </p:cNvPr>
          <p:cNvPicPr>
            <a:picLocks noChangeAspect="1"/>
          </p:cNvPicPr>
          <p:nvPr/>
        </p:nvPicPr>
        <p:blipFill>
          <a:blip r:embed="rId6"/>
          <a:stretch>
            <a:fillRect/>
          </a:stretch>
        </p:blipFill>
        <p:spPr>
          <a:xfrm>
            <a:off x="449970" y="1040290"/>
            <a:ext cx="8991603" cy="6285706"/>
          </a:xfrm>
          <a:prstGeom prst="rect">
            <a:avLst/>
          </a:prstGeom>
        </p:spPr>
      </p:pic>
    </p:spTree>
    <p:extLst>
      <p:ext uri="{BB962C8B-B14F-4D97-AF65-F5344CB8AC3E}">
        <p14:creationId xmlns:p14="http://schemas.microsoft.com/office/powerpoint/2010/main" val="993339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07C35-05A2-8B3F-2B99-A3075BC022E1}"/>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C841BC19-35EC-D8FE-CD66-6DB4021D8363}"/>
              </a:ext>
            </a:extLst>
          </p:cNvPr>
          <p:cNvGrpSpPr/>
          <p:nvPr/>
        </p:nvGrpSpPr>
        <p:grpSpPr>
          <a:xfrm>
            <a:off x="2369236" y="409214"/>
            <a:ext cx="5103904" cy="1198311"/>
            <a:chOff x="2648188" y="47148"/>
            <a:chExt cx="5103904" cy="1198311"/>
          </a:xfrm>
        </p:grpSpPr>
        <p:pic>
          <p:nvPicPr>
            <p:cNvPr id="5" name="object 4">
              <a:extLst>
                <a:ext uri="{FF2B5EF4-FFF2-40B4-BE49-F238E27FC236}">
                  <a16:creationId xmlns:a16="http://schemas.microsoft.com/office/drawing/2014/main" id="{F575D878-5519-C4CC-3D7A-04D321C6CE43}"/>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31D9D97-A8B2-823B-3B49-025084540AFA}"/>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3CC8A91-372A-F8D9-DCE5-E5C27D33503F}"/>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BD910630-906B-FB62-6282-4966CA1A711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br>
                <a:rPr lang="en-IN" dirty="0"/>
              </a:br>
              <a:endParaRPr dirty="0"/>
            </a:p>
          </p:txBody>
        </p:sp>
      </p:grpSp>
      <p:pic>
        <p:nvPicPr>
          <p:cNvPr id="17" name="object 3">
            <a:extLst>
              <a:ext uri="{FF2B5EF4-FFF2-40B4-BE49-F238E27FC236}">
                <a16:creationId xmlns:a16="http://schemas.microsoft.com/office/drawing/2014/main" id="{6A8EC6CF-5C87-6F32-147F-8C33B2252CA2}"/>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6B8AB96-0142-4A90-5FEA-52248BE2D27D}"/>
              </a:ext>
            </a:extLst>
          </p:cNvPr>
          <p:cNvSpPr txBox="1"/>
          <p:nvPr/>
        </p:nvSpPr>
        <p:spPr>
          <a:xfrm>
            <a:off x="3710985" y="605615"/>
            <a:ext cx="2686367"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CONCLUSION</a:t>
            </a:r>
          </a:p>
        </p:txBody>
      </p:sp>
      <p:sp>
        <p:nvSpPr>
          <p:cNvPr id="11" name="TextBox 10">
            <a:extLst>
              <a:ext uri="{FF2B5EF4-FFF2-40B4-BE49-F238E27FC236}">
                <a16:creationId xmlns:a16="http://schemas.microsoft.com/office/drawing/2014/main" id="{89621A69-BD1A-E409-F7B3-60D74B92C554}"/>
              </a:ext>
            </a:extLst>
          </p:cNvPr>
          <p:cNvSpPr txBox="1"/>
          <p:nvPr/>
        </p:nvSpPr>
        <p:spPr>
          <a:xfrm>
            <a:off x="1068760" y="2013992"/>
            <a:ext cx="7704856" cy="3416320"/>
          </a:xfrm>
          <a:prstGeom prst="rect">
            <a:avLst/>
          </a:prstGeom>
          <a:noFill/>
        </p:spPr>
        <p:txBody>
          <a:bodyPr wrap="square" rtlCol="0">
            <a:spAutoFit/>
          </a:bodyPr>
          <a:lstStyle/>
          <a:p>
            <a:pPr>
              <a:lnSpc>
                <a:spcPct val="100000"/>
              </a:lnSpc>
            </a:pPr>
            <a:r>
              <a:rPr lang="en-IN" sz="2400" dirty="0">
                <a:latin typeface="Times New Roman" panose="02020603050405020304" pitchFamily="18" charset="0"/>
                <a:cs typeface="Times New Roman" panose="02020603050405020304" pitchFamily="18" charset="0"/>
              </a:rPr>
              <a:t>The Hospital Management System Using DBMS provides an organized and efficient way to manage hospital information. It stores patient, doctor, department, appointment, admission, treatment, medicine, and billing details in a structured database. By using primary keys, foreign keys, constraints, SQL queries, and data validation, the system maintains accurate and consistent data. Overall, the project shows how DBMS concepts can be applied to solve real-world hospital data-management problems and reduce manual work.</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23285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435B0DC78564F4B82DD69BBEBAF973E" ma:contentTypeVersion="4" ma:contentTypeDescription="Create a new document." ma:contentTypeScope="" ma:versionID="eda53e908e71e5be6df31d489fa69d09">
  <xsd:schema xmlns:xsd="http://www.w3.org/2001/XMLSchema" xmlns:xs="http://www.w3.org/2001/XMLSchema" xmlns:p="http://schemas.microsoft.com/office/2006/metadata/properties" xmlns:ns3="9caa4048-c9c6-4c47-96b3-20bff02eeac6" targetNamespace="http://schemas.microsoft.com/office/2006/metadata/properties" ma:root="true" ma:fieldsID="240bffa6ecf5dfdc059c494e8680819f" ns3:_="">
    <xsd:import namespace="9caa4048-c9c6-4c47-96b3-20bff02eeac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aa4048-c9c6-4c47-96b3-20bff02eeac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3110ADB-7925-4611-9D89-1104971744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aa4048-c9c6-4c47-96b3-20bff02eea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89F6E1C-0E0C-48BB-BCD8-9FADE980D34C}">
  <ds:schemaRefs>
    <ds:schemaRef ds:uri="http://schemas.microsoft.com/sharepoint/v3/contenttype/forms"/>
  </ds:schemaRefs>
</ds:datastoreItem>
</file>

<file path=customXml/itemProps3.xml><?xml version="1.0" encoding="utf-8"?>
<ds:datastoreItem xmlns:ds="http://schemas.openxmlformats.org/officeDocument/2006/customXml" ds:itemID="{65352556-010D-4E20-AA50-CAE52EA330EE}">
  <ds:schemaRefs>
    <ds:schemaRef ds:uri="http://schemas.microsoft.com/office/2006/metadata/properties"/>
    <ds:schemaRef ds:uri="http://schemas.openxmlformats.org/package/2006/metadata/core-properties"/>
    <ds:schemaRef ds:uri="http://schemas.microsoft.com/office/2006/documentManagement/types"/>
    <ds:schemaRef ds:uri="http://purl.org/dc/terms/"/>
    <ds:schemaRef ds:uri="http://purl.org/dc/dcmitype/"/>
    <ds:schemaRef ds:uri="http://purl.org/dc/elements/1.1/"/>
    <ds:schemaRef ds:uri="http://www.w3.org/XML/1998/namespace"/>
    <ds:schemaRef ds:uri="http://schemas.microsoft.com/office/infopath/2007/PartnerControls"/>
    <ds:schemaRef ds:uri="9caa4048-c9c6-4c47-96b3-20bff02eeac6"/>
  </ds:schemaRefs>
</ds:datastoreItem>
</file>

<file path=docProps/app.xml><?xml version="1.0" encoding="utf-8"?>
<Properties xmlns="http://schemas.openxmlformats.org/officeDocument/2006/extended-properties" xmlns:vt="http://schemas.openxmlformats.org/officeDocument/2006/docPropsVTypes">
  <Template>java</Template>
  <TotalTime>1300</TotalTime>
  <Words>1912</Words>
  <Application>Microsoft Office PowerPoint</Application>
  <PresentationFormat>Custom</PresentationFormat>
  <Paragraphs>270</Paragraphs>
  <Slides>19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vt:lpstr>
      <vt:lpstr>Palatino Linotype</vt:lpstr>
      <vt:lpstr>Times New Roman</vt:lpstr>
      <vt:lpstr>Office Theme</vt:lpstr>
      <vt:lpstr>DATABASE MANEGEMENT SYSTEM Cornerstone Project  </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bunny gaming</dc:creator>
  <cp:lastModifiedBy>25B11AI615</cp:lastModifiedBy>
  <cp:revision>23</cp:revision>
  <cp:lastPrinted>2025-10-14T18:21:49Z</cp:lastPrinted>
  <dcterms:created xsi:type="dcterms:W3CDTF">2026-02-27T08:03:13Z</dcterms:created>
  <dcterms:modified xsi:type="dcterms:W3CDTF">2026-09-20T07:42:13Z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y fmtid="{D5CDD505-2E9C-101B-9397-08002B2CF9AE}" pid="4" name="ContentTypeId">
    <vt:lpwstr>0x010100B435B0DC78564F4B82DD69BBEBAF973E</vt:lpwstr>
  </property>
</Properties>
</file>